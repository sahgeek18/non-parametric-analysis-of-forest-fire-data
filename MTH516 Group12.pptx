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8" r:id="rId3"/>
    <p:sldId id="265" r:id="rId4"/>
    <p:sldId id="289" r:id="rId5"/>
    <p:sldId id="259" r:id="rId6"/>
    <p:sldId id="260" r:id="rId7"/>
    <p:sldId id="267" r:id="rId8"/>
    <p:sldId id="290" r:id="rId9"/>
    <p:sldId id="291" r:id="rId10"/>
    <p:sldId id="292" r:id="rId11"/>
    <p:sldId id="293" r:id="rId12"/>
    <p:sldId id="294" r:id="rId13"/>
    <p:sldId id="296" r:id="rId14"/>
    <p:sldId id="298" r:id="rId15"/>
    <p:sldId id="300" r:id="rId16"/>
    <p:sldId id="301" r:id="rId17"/>
    <p:sldId id="262" r:id="rId18"/>
    <p:sldId id="268" r:id="rId19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21"/>
    </p:embeddedFont>
    <p:embeddedFont>
      <p:font typeface="DM Sans" pitchFamily="2" charset="0"/>
      <p:regular r:id="rId22"/>
      <p:bold r:id="rId23"/>
    </p:embeddedFont>
    <p:embeddedFont>
      <p:font typeface="Hind" panose="02000000000000000000" pitchFamily="2" charset="0"/>
      <p:regular r:id="rId24"/>
      <p:bold r:id="rId25"/>
    </p:embeddedFont>
    <p:embeddedFont>
      <p:font typeface="Magneto" panose="04030805050802020D02" pitchFamily="82" charset="0"/>
      <p:bold r:id="rId26"/>
    </p:embeddedFont>
    <p:embeddedFont>
      <p:font typeface="Space Grotesk Medium" panose="020B0604020202020204" charset="0"/>
      <p:regular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40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6426d880ea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6426d880ea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e1d838b627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e1d838b627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e1d838b627_4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e1d838b627_4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e1d838b627_4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e1d838b627_4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e1d838b627_4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e1d838b627_4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e1d838b627_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e1d838b627_4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2dfe25653d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2dfe25653d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2dfe25653d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2dfe25653d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2dfe25653d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2dfe25653d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2dfe25653d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2dfe25653d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e1d838b627_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e1d838b627_4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2dfe25653d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2dfe25653d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2dfe25653d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2dfe25653d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2dfe25653d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2dfe25653d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2dfe25653d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2dfe25653d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2dfe25653d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2dfe25653d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e1d838b627_4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e1d838b627_4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e1d838b627_4_2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e1d838b627_4_2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tBDf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4654296" y="1773936"/>
            <a:ext cx="4261200" cy="182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4654296" y="3968496"/>
            <a:ext cx="4261200" cy="43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"/>
              <a:buNone/>
              <a:defRPr sz="18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"/>
              <a:buNone/>
              <a:defRPr sz="18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"/>
              <a:buNone/>
              <a:defRPr sz="18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"/>
              <a:buNone/>
              <a:defRPr sz="18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"/>
              <a:buNone/>
              <a:defRPr sz="18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"/>
              <a:buNone/>
              <a:defRPr sz="18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"/>
              <a:buNone/>
              <a:defRPr sz="18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"/>
              <a:buNone/>
              <a:defRPr sz="18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>
            <a:spLocks noGrp="1"/>
          </p:cNvSpPr>
          <p:nvPr>
            <p:ph type="pic" idx="2"/>
          </p:nvPr>
        </p:nvSpPr>
        <p:spPr>
          <a:xfrm flipH="1">
            <a:off x="3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 flipH="1">
            <a:off x="228650" y="1621525"/>
            <a:ext cx="4411500" cy="1828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title" idx="3" hasCustomPrompt="1"/>
          </p:nvPr>
        </p:nvSpPr>
        <p:spPr>
          <a:xfrm flipH="1">
            <a:off x="228600" y="3816096"/>
            <a:ext cx="1268400" cy="877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Darker Grotesque SemiBold"/>
              <a:buChar char="●"/>
              <a:defRPr sz="1200"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>
            <a:spLocks noGrp="1"/>
          </p:cNvSpPr>
          <p:nvPr>
            <p:ph type="pic" idx="2"/>
          </p:nvPr>
        </p:nvSpPr>
        <p:spPr>
          <a:xfrm>
            <a:off x="200" y="0"/>
            <a:ext cx="3483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228600" y="3945225"/>
            <a:ext cx="2841000" cy="98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ubTitle" idx="1"/>
          </p:nvPr>
        </p:nvSpPr>
        <p:spPr>
          <a:xfrm>
            <a:off x="4093873" y="1595389"/>
            <a:ext cx="2248500" cy="147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subTitle" idx="3"/>
          </p:nvPr>
        </p:nvSpPr>
        <p:spPr>
          <a:xfrm>
            <a:off x="4093800" y="932688"/>
            <a:ext cx="2248500" cy="73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1800">
                <a:solidFill>
                  <a:schemeClr val="dk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24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24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24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24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24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24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24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24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ubTitle" idx="4"/>
          </p:nvPr>
        </p:nvSpPr>
        <p:spPr>
          <a:xfrm>
            <a:off x="6666890" y="1595382"/>
            <a:ext cx="2248500" cy="147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ubTitle" idx="5"/>
          </p:nvPr>
        </p:nvSpPr>
        <p:spPr>
          <a:xfrm>
            <a:off x="6666794" y="932688"/>
            <a:ext cx="2248500" cy="73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1800">
                <a:solidFill>
                  <a:schemeClr val="dk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24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24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24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24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24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24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24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24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86868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3998400" cy="144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1609625" y="2066125"/>
            <a:ext cx="3824100" cy="253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1" name="Google Shape;31;p7"/>
          <p:cNvSpPr>
            <a:spLocks noGrp="1"/>
          </p:cNvSpPr>
          <p:nvPr>
            <p:ph type="pic" idx="2"/>
          </p:nvPr>
        </p:nvSpPr>
        <p:spPr>
          <a:xfrm>
            <a:off x="5715849" y="0"/>
            <a:ext cx="34281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>
            <a:spLocks noGrp="1"/>
          </p:cNvSpPr>
          <p:nvPr>
            <p:ph type="subTitle" idx="1"/>
          </p:nvPr>
        </p:nvSpPr>
        <p:spPr>
          <a:xfrm>
            <a:off x="720064" y="1580125"/>
            <a:ext cx="3597000" cy="238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subTitle" idx="2"/>
          </p:nvPr>
        </p:nvSpPr>
        <p:spPr>
          <a:xfrm>
            <a:off x="4826936" y="1580125"/>
            <a:ext cx="3597000" cy="238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>
            <a:spLocks noGrp="1"/>
          </p:cNvSpPr>
          <p:nvPr>
            <p:ph type="pic" idx="2"/>
          </p:nvPr>
        </p:nvSpPr>
        <p:spPr>
          <a:xfrm flipH="1">
            <a:off x="3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0" name="Google Shape;40;p10"/>
          <p:cNvSpPr txBox="1">
            <a:spLocks noGrp="1"/>
          </p:cNvSpPr>
          <p:nvPr>
            <p:ph type="title"/>
          </p:nvPr>
        </p:nvSpPr>
        <p:spPr>
          <a:xfrm>
            <a:off x="228600" y="3437400"/>
            <a:ext cx="3658500" cy="1706100"/>
          </a:xfrm>
          <a:prstGeom prst="rect">
            <a:avLst/>
          </a:prstGeom>
          <a:solidFill>
            <a:srgbClr val="453937">
              <a:alpha val="54430"/>
            </a:srgb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952850"/>
            <a:ext cx="6576000" cy="79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3" name="Google Shape;43;p11"/>
          <p:cNvSpPr txBox="1">
            <a:spLocks noGrp="1"/>
          </p:cNvSpPr>
          <p:nvPr>
            <p:ph type="subTitle" idx="1"/>
          </p:nvPr>
        </p:nvSpPr>
        <p:spPr>
          <a:xfrm>
            <a:off x="1284000" y="2816250"/>
            <a:ext cx="6576000" cy="374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2_1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3"/>
          <p:cNvSpPr txBox="1">
            <a:spLocks noGrp="1"/>
          </p:cNvSpPr>
          <p:nvPr>
            <p:ph type="title"/>
          </p:nvPr>
        </p:nvSpPr>
        <p:spPr>
          <a:xfrm>
            <a:off x="228600" y="4342200"/>
            <a:ext cx="3631500" cy="572700"/>
          </a:xfrm>
          <a:prstGeom prst="rect">
            <a:avLst/>
          </a:prstGeom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3"/>
          <p:cNvSpPr txBox="1">
            <a:spLocks noGrp="1"/>
          </p:cNvSpPr>
          <p:nvPr>
            <p:ph type="subTitle" idx="1"/>
          </p:nvPr>
        </p:nvSpPr>
        <p:spPr>
          <a:xfrm>
            <a:off x="6167400" y="766746"/>
            <a:ext cx="2748000" cy="461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Space Grotesk Medium"/>
              <a:buNone/>
              <a:defRPr sz="1800">
                <a:solidFill>
                  <a:schemeClr val="dk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2000"/>
              <a:buFont typeface="Space Grotesk Medium"/>
              <a:buNone/>
              <a:defRPr sz="2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2000"/>
              <a:buFont typeface="Space Grotesk Medium"/>
              <a:buNone/>
              <a:defRPr sz="2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2000"/>
              <a:buFont typeface="Space Grotesk Medium"/>
              <a:buNone/>
              <a:defRPr sz="2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2000"/>
              <a:buFont typeface="Space Grotesk Medium"/>
              <a:buNone/>
              <a:defRPr sz="2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2000"/>
              <a:buFont typeface="Space Grotesk Medium"/>
              <a:buNone/>
              <a:defRPr sz="2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2000"/>
              <a:buFont typeface="Space Grotesk Medium"/>
              <a:buNone/>
              <a:defRPr sz="2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2000"/>
              <a:buFont typeface="Space Grotesk Medium"/>
              <a:buNone/>
              <a:defRPr sz="2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2000"/>
              <a:buFont typeface="Space Grotesk Medium"/>
              <a:buNone/>
              <a:defRPr sz="2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>
            <a:endParaRPr/>
          </a:p>
        </p:txBody>
      </p:sp>
      <p:sp>
        <p:nvSpPr>
          <p:cNvPr id="48" name="Google Shape;48;p13"/>
          <p:cNvSpPr txBox="1">
            <a:spLocks noGrp="1"/>
          </p:cNvSpPr>
          <p:nvPr>
            <p:ph type="subTitle" idx="2"/>
          </p:nvPr>
        </p:nvSpPr>
        <p:spPr>
          <a:xfrm>
            <a:off x="6167400" y="1304893"/>
            <a:ext cx="2743500" cy="461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Medium"/>
              <a:buNone/>
              <a:defRPr sz="1800">
                <a:solidFill>
                  <a:schemeClr val="dk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Medium"/>
              <a:buNone/>
              <a:defRPr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Medium"/>
              <a:buNone/>
              <a:defRPr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Medium"/>
              <a:buNone/>
              <a:defRPr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Medium"/>
              <a:buNone/>
              <a:defRPr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Medium"/>
              <a:buNone/>
              <a:defRPr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Medium"/>
              <a:buNone/>
              <a:defRPr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Medium"/>
              <a:buNone/>
              <a:defRPr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Medium"/>
              <a:buNone/>
              <a:defRPr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>
            <a:endParaRPr/>
          </a:p>
        </p:txBody>
      </p:sp>
      <p:sp>
        <p:nvSpPr>
          <p:cNvPr id="49" name="Google Shape;49;p13"/>
          <p:cNvSpPr txBox="1">
            <a:spLocks noGrp="1"/>
          </p:cNvSpPr>
          <p:nvPr>
            <p:ph type="subTitle" idx="3"/>
          </p:nvPr>
        </p:nvSpPr>
        <p:spPr>
          <a:xfrm>
            <a:off x="6167400" y="2381186"/>
            <a:ext cx="2743500" cy="461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Medium"/>
              <a:buNone/>
              <a:defRPr sz="1800">
                <a:solidFill>
                  <a:schemeClr val="dk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Medium"/>
              <a:buNone/>
              <a:defRPr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Medium"/>
              <a:buNone/>
              <a:defRPr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Medium"/>
              <a:buNone/>
              <a:defRPr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Medium"/>
              <a:buNone/>
              <a:defRPr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Medium"/>
              <a:buNone/>
              <a:defRPr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Medium"/>
              <a:buNone/>
              <a:defRPr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Medium"/>
              <a:buNone/>
              <a:defRPr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Medium"/>
              <a:buNone/>
              <a:defRPr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>
            <a:endParaRPr/>
          </a:p>
        </p:txBody>
      </p:sp>
      <p:sp>
        <p:nvSpPr>
          <p:cNvPr id="50" name="Google Shape;50;p13"/>
          <p:cNvSpPr txBox="1">
            <a:spLocks noGrp="1"/>
          </p:cNvSpPr>
          <p:nvPr>
            <p:ph type="subTitle" idx="4"/>
          </p:nvPr>
        </p:nvSpPr>
        <p:spPr>
          <a:xfrm>
            <a:off x="6167400" y="3995625"/>
            <a:ext cx="2743500" cy="461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Medium"/>
              <a:buNone/>
              <a:defRPr sz="1800">
                <a:solidFill>
                  <a:schemeClr val="dk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Medium"/>
              <a:buNone/>
              <a:defRPr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Medium"/>
              <a:buNone/>
              <a:defRPr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Medium"/>
              <a:buNone/>
              <a:defRPr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Medium"/>
              <a:buNone/>
              <a:defRPr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Medium"/>
              <a:buNone/>
              <a:defRPr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Medium"/>
              <a:buNone/>
              <a:defRPr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Medium"/>
              <a:buNone/>
              <a:defRPr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Medium"/>
              <a:buNone/>
              <a:defRPr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>
            <a:endParaRPr/>
          </a:p>
        </p:txBody>
      </p:sp>
      <p:sp>
        <p:nvSpPr>
          <p:cNvPr id="51" name="Google Shape;51;p13"/>
          <p:cNvSpPr txBox="1">
            <a:spLocks noGrp="1"/>
          </p:cNvSpPr>
          <p:nvPr>
            <p:ph type="subTitle" idx="5"/>
          </p:nvPr>
        </p:nvSpPr>
        <p:spPr>
          <a:xfrm>
            <a:off x="6167400" y="3457479"/>
            <a:ext cx="2743500" cy="461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Medium"/>
              <a:buNone/>
              <a:defRPr sz="1800">
                <a:solidFill>
                  <a:schemeClr val="dk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Medium"/>
              <a:buNone/>
              <a:defRPr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Medium"/>
              <a:buNone/>
              <a:defRPr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Medium"/>
              <a:buNone/>
              <a:defRPr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Medium"/>
              <a:buNone/>
              <a:defRPr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Medium"/>
              <a:buNone/>
              <a:defRPr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Medium"/>
              <a:buNone/>
              <a:defRPr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Medium"/>
              <a:buNone/>
              <a:defRPr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Medium"/>
              <a:buNone/>
              <a:defRPr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subTitle" idx="6"/>
          </p:nvPr>
        </p:nvSpPr>
        <p:spPr>
          <a:xfrm>
            <a:off x="6167400" y="1843039"/>
            <a:ext cx="2743500" cy="461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Medium"/>
              <a:buNone/>
              <a:defRPr sz="1800">
                <a:solidFill>
                  <a:schemeClr val="dk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Medium"/>
              <a:buNone/>
              <a:defRPr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Medium"/>
              <a:buNone/>
              <a:defRPr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Medium"/>
              <a:buNone/>
              <a:defRPr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Medium"/>
              <a:buNone/>
              <a:defRPr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Medium"/>
              <a:buNone/>
              <a:defRPr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Medium"/>
              <a:buNone/>
              <a:defRPr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Medium"/>
              <a:buNone/>
              <a:defRPr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Medium"/>
              <a:buNone/>
              <a:defRPr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ubTitle" idx="7"/>
          </p:nvPr>
        </p:nvSpPr>
        <p:spPr>
          <a:xfrm>
            <a:off x="6167400" y="2919332"/>
            <a:ext cx="2743500" cy="461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Medium"/>
              <a:buNone/>
              <a:defRPr sz="1800">
                <a:solidFill>
                  <a:schemeClr val="dk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Medium"/>
              <a:buNone/>
              <a:defRPr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Medium"/>
              <a:buNone/>
              <a:defRPr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Medium"/>
              <a:buNone/>
              <a:defRPr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Medium"/>
              <a:buNone/>
              <a:defRPr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Medium"/>
              <a:buNone/>
              <a:defRPr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Medium"/>
              <a:buNone/>
              <a:defRPr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Medium"/>
              <a:buNone/>
              <a:defRPr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Medium"/>
              <a:buNone/>
              <a:defRPr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title" idx="8" hasCustomPrompt="1"/>
          </p:nvPr>
        </p:nvSpPr>
        <p:spPr>
          <a:xfrm>
            <a:off x="5301600" y="2381187"/>
            <a:ext cx="865800" cy="461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5" name="Google Shape;55;p13"/>
          <p:cNvSpPr txBox="1">
            <a:spLocks noGrp="1"/>
          </p:cNvSpPr>
          <p:nvPr>
            <p:ph type="title" idx="9" hasCustomPrompt="1"/>
          </p:nvPr>
        </p:nvSpPr>
        <p:spPr>
          <a:xfrm>
            <a:off x="5301600" y="1304893"/>
            <a:ext cx="865800" cy="461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6" name="Google Shape;56;p13"/>
          <p:cNvSpPr txBox="1">
            <a:spLocks noGrp="1"/>
          </p:cNvSpPr>
          <p:nvPr>
            <p:ph type="title" idx="13" hasCustomPrompt="1"/>
          </p:nvPr>
        </p:nvSpPr>
        <p:spPr>
          <a:xfrm>
            <a:off x="5301600" y="2919333"/>
            <a:ext cx="865800" cy="461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7" name="Google Shape;57;p13"/>
          <p:cNvSpPr txBox="1">
            <a:spLocks noGrp="1"/>
          </p:cNvSpPr>
          <p:nvPr>
            <p:ph type="title" idx="14" hasCustomPrompt="1"/>
          </p:nvPr>
        </p:nvSpPr>
        <p:spPr>
          <a:xfrm>
            <a:off x="5301600" y="3457480"/>
            <a:ext cx="865800" cy="461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8" name="Google Shape;58;p13"/>
          <p:cNvSpPr txBox="1">
            <a:spLocks noGrp="1"/>
          </p:cNvSpPr>
          <p:nvPr>
            <p:ph type="title" idx="15" hasCustomPrompt="1"/>
          </p:nvPr>
        </p:nvSpPr>
        <p:spPr>
          <a:xfrm>
            <a:off x="5301600" y="766747"/>
            <a:ext cx="865800" cy="4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59" name="Google Shape;59;p13"/>
          <p:cNvSpPr txBox="1">
            <a:spLocks noGrp="1"/>
          </p:cNvSpPr>
          <p:nvPr>
            <p:ph type="title" idx="16" hasCustomPrompt="1"/>
          </p:nvPr>
        </p:nvSpPr>
        <p:spPr>
          <a:xfrm>
            <a:off x="5301600" y="1843040"/>
            <a:ext cx="865800" cy="4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60" name="Google Shape;60;p13"/>
          <p:cNvSpPr txBox="1">
            <a:spLocks noGrp="1"/>
          </p:cNvSpPr>
          <p:nvPr>
            <p:ph type="title" idx="17" hasCustomPrompt="1"/>
          </p:nvPr>
        </p:nvSpPr>
        <p:spPr>
          <a:xfrm>
            <a:off x="5301600" y="3995626"/>
            <a:ext cx="865800" cy="461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1" name="Google Shape;61;p13"/>
          <p:cNvSpPr txBox="1">
            <a:spLocks noGrp="1"/>
          </p:cNvSpPr>
          <p:nvPr>
            <p:ph type="subTitle" idx="18"/>
          </p:nvPr>
        </p:nvSpPr>
        <p:spPr>
          <a:xfrm>
            <a:off x="6167400" y="228600"/>
            <a:ext cx="2748000" cy="461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Space Grotesk Medium"/>
              <a:buNone/>
              <a:defRPr sz="1800">
                <a:solidFill>
                  <a:schemeClr val="dk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2000"/>
              <a:buFont typeface="Space Grotesk Medium"/>
              <a:buNone/>
              <a:defRPr sz="2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2000"/>
              <a:buFont typeface="Space Grotesk Medium"/>
              <a:buNone/>
              <a:defRPr sz="2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2000"/>
              <a:buFont typeface="Space Grotesk Medium"/>
              <a:buNone/>
              <a:defRPr sz="2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2000"/>
              <a:buFont typeface="Space Grotesk Medium"/>
              <a:buNone/>
              <a:defRPr sz="2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2000"/>
              <a:buFont typeface="Space Grotesk Medium"/>
              <a:buNone/>
              <a:defRPr sz="2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2000"/>
              <a:buFont typeface="Space Grotesk Medium"/>
              <a:buNone/>
              <a:defRPr sz="2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2000"/>
              <a:buFont typeface="Space Grotesk Medium"/>
              <a:buNone/>
              <a:defRPr sz="2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2000"/>
              <a:buFont typeface="Space Grotesk Medium"/>
              <a:buNone/>
              <a:defRPr sz="2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title" idx="19" hasCustomPrompt="1"/>
          </p:nvPr>
        </p:nvSpPr>
        <p:spPr>
          <a:xfrm>
            <a:off x="5301600" y="228600"/>
            <a:ext cx="865800" cy="4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63" name="Google Shape;63;p13"/>
          <p:cNvSpPr>
            <a:spLocks noGrp="1"/>
          </p:cNvSpPr>
          <p:nvPr>
            <p:ph type="pic" idx="20"/>
          </p:nvPr>
        </p:nvSpPr>
        <p:spPr>
          <a:xfrm>
            <a:off x="200" y="0"/>
            <a:ext cx="41208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ONE_COLUMN_TEXT_1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5"/>
          <p:cNvSpPr txBox="1">
            <a:spLocks noGrp="1"/>
          </p:cNvSpPr>
          <p:nvPr>
            <p:ph type="title"/>
          </p:nvPr>
        </p:nvSpPr>
        <p:spPr>
          <a:xfrm>
            <a:off x="228600" y="228595"/>
            <a:ext cx="3201600" cy="9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subTitle" idx="1"/>
          </p:nvPr>
        </p:nvSpPr>
        <p:spPr>
          <a:xfrm>
            <a:off x="3995400" y="228595"/>
            <a:ext cx="4920300" cy="129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>
            <a:spLocks noGrp="1"/>
          </p:cNvSpPr>
          <p:nvPr>
            <p:ph type="title"/>
          </p:nvPr>
        </p:nvSpPr>
        <p:spPr>
          <a:xfrm>
            <a:off x="228450" y="228602"/>
            <a:ext cx="8687100" cy="576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subTitle" idx="1"/>
          </p:nvPr>
        </p:nvSpPr>
        <p:spPr>
          <a:xfrm>
            <a:off x="2517450" y="1184738"/>
            <a:ext cx="59271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subTitle" idx="2"/>
          </p:nvPr>
        </p:nvSpPr>
        <p:spPr>
          <a:xfrm>
            <a:off x="228450" y="1184738"/>
            <a:ext cx="22890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1800">
                <a:solidFill>
                  <a:schemeClr val="dk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24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24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24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24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24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24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24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24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>
            <a:endParaRPr/>
          </a:p>
        </p:txBody>
      </p:sp>
      <p:sp>
        <p:nvSpPr>
          <p:cNvPr id="75" name="Google Shape;75;p16"/>
          <p:cNvSpPr txBox="1">
            <a:spLocks noGrp="1"/>
          </p:cNvSpPr>
          <p:nvPr>
            <p:ph type="subTitle" idx="3"/>
          </p:nvPr>
        </p:nvSpPr>
        <p:spPr>
          <a:xfrm>
            <a:off x="2517450" y="2490450"/>
            <a:ext cx="59271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6"/>
          <p:cNvSpPr txBox="1">
            <a:spLocks noGrp="1"/>
          </p:cNvSpPr>
          <p:nvPr>
            <p:ph type="subTitle" idx="4"/>
          </p:nvPr>
        </p:nvSpPr>
        <p:spPr>
          <a:xfrm>
            <a:off x="228450" y="2490450"/>
            <a:ext cx="22890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1800">
                <a:solidFill>
                  <a:schemeClr val="dk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24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24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24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24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24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24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24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24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>
            <a:endParaRPr/>
          </a:p>
        </p:txBody>
      </p:sp>
      <p:sp>
        <p:nvSpPr>
          <p:cNvPr id="77" name="Google Shape;77;p16"/>
          <p:cNvSpPr txBox="1">
            <a:spLocks noGrp="1"/>
          </p:cNvSpPr>
          <p:nvPr>
            <p:ph type="subTitle" idx="5"/>
          </p:nvPr>
        </p:nvSpPr>
        <p:spPr>
          <a:xfrm>
            <a:off x="2517450" y="3796175"/>
            <a:ext cx="59271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6"/>
          <p:cNvSpPr txBox="1">
            <a:spLocks noGrp="1"/>
          </p:cNvSpPr>
          <p:nvPr>
            <p:ph type="subTitle" idx="6"/>
          </p:nvPr>
        </p:nvSpPr>
        <p:spPr>
          <a:xfrm>
            <a:off x="228450" y="3796163"/>
            <a:ext cx="22890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1800">
                <a:solidFill>
                  <a:schemeClr val="dk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24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24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24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24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24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24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24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24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BLANK_1_1_1_1_1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>
            <a:spLocks noGrp="1"/>
          </p:cNvSpPr>
          <p:nvPr>
            <p:ph type="title"/>
          </p:nvPr>
        </p:nvSpPr>
        <p:spPr>
          <a:xfrm>
            <a:off x="228600" y="1678950"/>
            <a:ext cx="2584500" cy="17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7"/>
          <p:cNvSpPr txBox="1">
            <a:spLocks noGrp="1"/>
          </p:cNvSpPr>
          <p:nvPr>
            <p:ph type="subTitle" idx="1"/>
          </p:nvPr>
        </p:nvSpPr>
        <p:spPr>
          <a:xfrm>
            <a:off x="3861950" y="1202771"/>
            <a:ext cx="2381100" cy="55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7"/>
          <p:cNvSpPr txBox="1">
            <a:spLocks noGrp="1"/>
          </p:cNvSpPr>
          <p:nvPr>
            <p:ph type="subTitle" idx="2"/>
          </p:nvPr>
        </p:nvSpPr>
        <p:spPr>
          <a:xfrm>
            <a:off x="3861950" y="2525546"/>
            <a:ext cx="2381100" cy="55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7"/>
          <p:cNvSpPr txBox="1">
            <a:spLocks noGrp="1"/>
          </p:cNvSpPr>
          <p:nvPr>
            <p:ph type="subTitle" idx="3"/>
          </p:nvPr>
        </p:nvSpPr>
        <p:spPr>
          <a:xfrm>
            <a:off x="6534301" y="1202771"/>
            <a:ext cx="2381100" cy="55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7"/>
          <p:cNvSpPr txBox="1">
            <a:spLocks noGrp="1"/>
          </p:cNvSpPr>
          <p:nvPr>
            <p:ph type="subTitle" idx="4"/>
          </p:nvPr>
        </p:nvSpPr>
        <p:spPr>
          <a:xfrm>
            <a:off x="3861950" y="3848321"/>
            <a:ext cx="2381100" cy="55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7"/>
          <p:cNvSpPr txBox="1">
            <a:spLocks noGrp="1"/>
          </p:cNvSpPr>
          <p:nvPr>
            <p:ph type="subTitle" idx="5"/>
          </p:nvPr>
        </p:nvSpPr>
        <p:spPr>
          <a:xfrm>
            <a:off x="6534301" y="2525546"/>
            <a:ext cx="2381100" cy="55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7"/>
          <p:cNvSpPr txBox="1">
            <a:spLocks noGrp="1"/>
          </p:cNvSpPr>
          <p:nvPr>
            <p:ph type="subTitle" idx="6"/>
          </p:nvPr>
        </p:nvSpPr>
        <p:spPr>
          <a:xfrm>
            <a:off x="6534301" y="3848321"/>
            <a:ext cx="2381100" cy="55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7"/>
          <p:cNvSpPr txBox="1">
            <a:spLocks noGrp="1"/>
          </p:cNvSpPr>
          <p:nvPr>
            <p:ph type="title" idx="7" hasCustomPrompt="1"/>
          </p:nvPr>
        </p:nvSpPr>
        <p:spPr>
          <a:xfrm>
            <a:off x="7291951" y="3392628"/>
            <a:ext cx="865800" cy="461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8" name="Google Shape;88;p17"/>
          <p:cNvSpPr txBox="1">
            <a:spLocks noGrp="1"/>
          </p:cNvSpPr>
          <p:nvPr>
            <p:ph type="title" idx="8" hasCustomPrompt="1"/>
          </p:nvPr>
        </p:nvSpPr>
        <p:spPr>
          <a:xfrm>
            <a:off x="7291951" y="741079"/>
            <a:ext cx="865800" cy="461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9" name="Google Shape;89;p17"/>
          <p:cNvSpPr txBox="1">
            <a:spLocks noGrp="1"/>
          </p:cNvSpPr>
          <p:nvPr>
            <p:ph type="title" idx="9" hasCustomPrompt="1"/>
          </p:nvPr>
        </p:nvSpPr>
        <p:spPr>
          <a:xfrm>
            <a:off x="4620350" y="741079"/>
            <a:ext cx="864300" cy="4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90" name="Google Shape;90;p17"/>
          <p:cNvSpPr txBox="1">
            <a:spLocks noGrp="1"/>
          </p:cNvSpPr>
          <p:nvPr>
            <p:ph type="title" idx="13" hasCustomPrompt="1"/>
          </p:nvPr>
        </p:nvSpPr>
        <p:spPr>
          <a:xfrm>
            <a:off x="4619600" y="3392628"/>
            <a:ext cx="865800" cy="4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91" name="Google Shape;91;p17"/>
          <p:cNvSpPr txBox="1">
            <a:spLocks noGrp="1"/>
          </p:cNvSpPr>
          <p:nvPr>
            <p:ph type="title" idx="14" hasCustomPrompt="1"/>
          </p:nvPr>
        </p:nvSpPr>
        <p:spPr>
          <a:xfrm>
            <a:off x="7291951" y="2066853"/>
            <a:ext cx="865800" cy="461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2" name="Google Shape;92;p17"/>
          <p:cNvSpPr txBox="1">
            <a:spLocks noGrp="1"/>
          </p:cNvSpPr>
          <p:nvPr>
            <p:ph type="title" idx="15" hasCustomPrompt="1"/>
          </p:nvPr>
        </p:nvSpPr>
        <p:spPr>
          <a:xfrm>
            <a:off x="4619600" y="2066703"/>
            <a:ext cx="865800" cy="4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BLANK_1_1_1_1_1_1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95" name="Google Shape;95;p18"/>
          <p:cNvSpPr>
            <a:spLocks noGrp="1"/>
          </p:cNvSpPr>
          <p:nvPr>
            <p:ph type="pic" idx="3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96" name="Google Shape;96;p18"/>
          <p:cNvSpPr txBox="1">
            <a:spLocks noGrp="1"/>
          </p:cNvSpPr>
          <p:nvPr>
            <p:ph type="title" hasCustomPrompt="1"/>
          </p:nvPr>
        </p:nvSpPr>
        <p:spPr>
          <a:xfrm>
            <a:off x="4654296" y="1897686"/>
            <a:ext cx="4261200" cy="87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2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97" name="Google Shape;97;p18"/>
          <p:cNvSpPr txBox="1">
            <a:spLocks noGrp="1"/>
          </p:cNvSpPr>
          <p:nvPr>
            <p:ph type="subTitle" idx="1"/>
          </p:nvPr>
        </p:nvSpPr>
        <p:spPr>
          <a:xfrm>
            <a:off x="4654296" y="2774868"/>
            <a:ext cx="4261200" cy="369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8"/>
          <p:cNvSpPr txBox="1">
            <a:spLocks noGrp="1"/>
          </p:cNvSpPr>
          <p:nvPr>
            <p:ph type="title" idx="4" hasCustomPrompt="1"/>
          </p:nvPr>
        </p:nvSpPr>
        <p:spPr>
          <a:xfrm>
            <a:off x="4654296" y="3144165"/>
            <a:ext cx="4261200" cy="87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2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99" name="Google Shape;99;p18"/>
          <p:cNvSpPr txBox="1">
            <a:spLocks noGrp="1"/>
          </p:cNvSpPr>
          <p:nvPr>
            <p:ph type="subTitle" idx="5"/>
          </p:nvPr>
        </p:nvSpPr>
        <p:spPr>
          <a:xfrm>
            <a:off x="4654296" y="4021304"/>
            <a:ext cx="4261200" cy="369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>
            <a:spLocks noGrp="1"/>
          </p:cNvSpPr>
          <p:nvPr>
            <p:ph type="title"/>
          </p:nvPr>
        </p:nvSpPr>
        <p:spPr>
          <a:xfrm>
            <a:off x="228600" y="1555800"/>
            <a:ext cx="2973600" cy="203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sp>
        <p:nvSpPr>
          <p:cNvPr id="102" name="Google Shape;102;p19"/>
          <p:cNvSpPr txBox="1">
            <a:spLocks noGrp="1"/>
          </p:cNvSpPr>
          <p:nvPr>
            <p:ph type="subTitle" idx="1"/>
          </p:nvPr>
        </p:nvSpPr>
        <p:spPr>
          <a:xfrm>
            <a:off x="5763000" y="1621614"/>
            <a:ext cx="3152700" cy="117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9"/>
          <p:cNvSpPr txBox="1"/>
          <p:nvPr/>
        </p:nvSpPr>
        <p:spPr>
          <a:xfrm>
            <a:off x="5763000" y="2875375"/>
            <a:ext cx="31527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CREDITS:</a:t>
            </a:r>
            <a:r>
              <a:rPr lang="en-GB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This presentation template was created by </a:t>
            </a:r>
            <a:r>
              <a:rPr lang="en-GB" sz="1000" b="1">
                <a:solidFill>
                  <a:schemeClr val="dk1"/>
                </a:solidFill>
                <a:uFill>
                  <a:noFill/>
                </a:uFill>
                <a:latin typeface="DM Sans"/>
                <a:ea typeface="DM Sans"/>
                <a:cs typeface="DM Sans"/>
                <a:sym typeface="DM Sans"/>
                <a:hlinkClick r:id="rId2"/>
              </a:rPr>
              <a:t>Slidesgo</a:t>
            </a:r>
            <a:r>
              <a:rPr lang="en-GB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and includes icons, infographics &amp; images by </a:t>
            </a:r>
            <a:r>
              <a:rPr lang="en-GB" sz="1000" b="1">
                <a:solidFill>
                  <a:schemeClr val="dk1"/>
                </a:solidFill>
                <a:uFill>
                  <a:noFill/>
                </a:uFill>
                <a:latin typeface="DM Sans"/>
                <a:ea typeface="DM Sans"/>
                <a:cs typeface="DM Sans"/>
                <a:sym typeface="DM Sans"/>
                <a:hlinkClick r:id="rId3"/>
              </a:rPr>
              <a:t>Freepik</a:t>
            </a:r>
            <a:r>
              <a:rPr lang="en-GB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sz="1000" b="1" u="sng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839891"/>
            <a:ext cx="2133600" cy="254794"/>
          </a:xfrm>
        </p:spPr>
        <p:txBody>
          <a:bodyPr/>
          <a:lstStyle>
            <a:lvl1pPr>
              <a:defRPr/>
            </a:lvl1pPr>
          </a:lstStyle>
          <a:p>
            <a:fld id="{AA9E9C1E-0358-401C-BE75-CE5FF0CE4DA6}" type="datetime1">
              <a:rPr lang="en-GB" altLang="ru-RU"/>
              <a:t>08/11/2025</a:t>
            </a:fld>
            <a:endParaRPr lang="en-GB" alt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839891"/>
            <a:ext cx="2895600" cy="254794"/>
          </a:xfrm>
        </p:spPr>
        <p:txBody>
          <a:bodyPr/>
          <a:lstStyle>
            <a:lvl1pPr>
              <a:defRPr/>
            </a:lvl1pPr>
          </a:lstStyle>
          <a:p>
            <a:r>
              <a:rPr lang="en-GB" altLang="ru-RU"/>
              <a:t>Designed by PoweredTemplate.com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839891"/>
            <a:ext cx="2133600" cy="254794"/>
          </a:xfrm>
        </p:spPr>
        <p:txBody>
          <a:bodyPr/>
          <a:lstStyle>
            <a:lvl1pPr>
              <a:defRPr/>
            </a:lvl1pPr>
          </a:lstStyle>
          <a:p>
            <a:fld id="{E584D1CB-75DC-430F-85F6-2904D449EC62}" type="slidenum">
              <a:rPr lang="en-GB" altLang="ru-RU"/>
              <a:t>‹#›</a:t>
            </a:fld>
            <a:endParaRPr lang="en-GB" alt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pace Grotesk Medium"/>
              <a:buNone/>
              <a:defRPr sz="26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pace Grotesk Medium"/>
              <a:buNone/>
              <a:defRPr sz="26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pace Grotesk Medium"/>
              <a:buNone/>
              <a:defRPr sz="26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pace Grotesk Medium"/>
              <a:buNone/>
              <a:defRPr sz="26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pace Grotesk Medium"/>
              <a:buNone/>
              <a:defRPr sz="26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pace Grotesk Medium"/>
              <a:buNone/>
              <a:defRPr sz="26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pace Grotesk Medium"/>
              <a:buNone/>
              <a:defRPr sz="26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pace Grotesk Medium"/>
              <a:buNone/>
              <a:defRPr sz="26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pace Grotesk Medium"/>
              <a:buNone/>
              <a:defRPr sz="26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2" r:id="rId13"/>
    <p:sldLayoutId id="2147483663" r:id="rId14"/>
    <p:sldLayoutId id="2147483664" r:id="rId15"/>
    <p:sldLayoutId id="2147483665" r:id="rId16"/>
    <p:sldLayoutId id="2147483666" r:id="rId17"/>
    <p:sldLayoutId id="2147483667" r:id="rId18"/>
    <p:sldLayoutId id="2147483668" r:id="rId19"/>
    <p:sldLayoutId id="2147483669" r:id="rId2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26" title="wildfire-its-consequences-nature.jpg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/>
          <a:srcRect l="9820" t="26928" b="22348"/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</p:spPr>
      </p:pic>
      <p:sp>
        <p:nvSpPr>
          <p:cNvPr id="122" name="Google Shape;122;p26"/>
          <p:cNvSpPr/>
          <p:nvPr/>
        </p:nvSpPr>
        <p:spPr>
          <a:xfrm>
            <a:off x="3485515" y="1523365"/>
            <a:ext cx="5658485" cy="3620135"/>
          </a:xfrm>
          <a:prstGeom prst="rect">
            <a:avLst/>
          </a:prstGeom>
          <a:solidFill>
            <a:srgbClr val="453937">
              <a:alpha val="54000"/>
            </a:srgbClr>
          </a:solidFill>
          <a:ln>
            <a:noFill/>
          </a:ln>
          <a:effectLst>
            <a:outerShdw blurRad="214313" dist="142875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ind" panose="02000000000000000000"/>
              <a:ea typeface="Hind" panose="02000000000000000000"/>
              <a:cs typeface="Hind" panose="02000000000000000000"/>
              <a:sym typeface="Hind" panose="02000000000000000000"/>
            </a:endParaRPr>
          </a:p>
        </p:txBody>
      </p:sp>
      <p:sp>
        <p:nvSpPr>
          <p:cNvPr id="123" name="Google Shape;123;p26"/>
          <p:cNvSpPr txBox="1">
            <a:spLocks noGrp="1"/>
          </p:cNvSpPr>
          <p:nvPr>
            <p:ph type="ctrTitle"/>
          </p:nvPr>
        </p:nvSpPr>
        <p:spPr>
          <a:xfrm>
            <a:off x="3726180" y="1774190"/>
            <a:ext cx="5189855" cy="1828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4000" i="1"/>
              <a:t>Non-parametric Analysis of the Forest Fires Data</a:t>
            </a:r>
          </a:p>
        </p:txBody>
      </p:sp>
      <p:sp>
        <p:nvSpPr>
          <p:cNvPr id="124" name="Google Shape;124;p26"/>
          <p:cNvSpPr txBox="1">
            <a:spLocks noGrp="1"/>
          </p:cNvSpPr>
          <p:nvPr>
            <p:ph type="subTitle" idx="1"/>
          </p:nvPr>
        </p:nvSpPr>
        <p:spPr>
          <a:xfrm>
            <a:off x="3725926" y="3883406"/>
            <a:ext cx="4261200" cy="43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altLang="en-GB" b="1"/>
              <a:t>Instructor : </a:t>
            </a:r>
            <a:r>
              <a:rPr lang="en-IN" altLang="en-GB"/>
              <a:t>Dr. Sharmishtha Mitra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IN" altLang="en-GB" sz="10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altLang="en-GB" sz="1000" b="1"/>
              <a:t>Submitted by : </a:t>
            </a:r>
            <a:r>
              <a:rPr lang="en-IN" altLang="en-GB" sz="1000"/>
              <a:t>Group 12(Parvez-241080082, Piyush Kumar-241080083, Prottush Das-241080085, Riya Sharma-241080088, Sahil Kumar Kalsaria-241080091)</a:t>
            </a:r>
          </a:p>
        </p:txBody>
      </p:sp>
      <p:cxnSp>
        <p:nvCxnSpPr>
          <p:cNvPr id="125" name="Google Shape;125;p26"/>
          <p:cNvCxnSpPr/>
          <p:nvPr/>
        </p:nvCxnSpPr>
        <p:spPr>
          <a:xfrm flipV="1">
            <a:off x="3851656" y="3724350"/>
            <a:ext cx="4032885" cy="1905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28" title="deer-running-from-wildfire.jpg"/>
          <p:cNvPicPr preferRelativeResize="0">
            <a:picLocks noGrp="1"/>
          </p:cNvPicPr>
          <p:nvPr>
            <p:ph type="pic" idx="20"/>
          </p:nvPr>
        </p:nvPicPr>
        <p:blipFill rotWithShape="1">
          <a:blip r:embed="rId3"/>
          <a:srcRect l="9942" r="9942"/>
          <a:stretch>
            <a:fillRect/>
          </a:stretch>
        </p:blipFill>
        <p:spPr>
          <a:xfrm>
            <a:off x="200" y="0"/>
            <a:ext cx="4120776" cy="5143501"/>
          </a:xfrm>
          <a:prstGeom prst="rect">
            <a:avLst/>
          </a:prstGeom>
        </p:spPr>
      </p:pic>
      <p:sp>
        <p:nvSpPr>
          <p:cNvPr id="173" name="Google Shape;173;p28"/>
          <p:cNvSpPr txBox="1">
            <a:spLocks noGrp="1"/>
          </p:cNvSpPr>
          <p:nvPr>
            <p:ph type="title"/>
          </p:nvPr>
        </p:nvSpPr>
        <p:spPr>
          <a:xfrm>
            <a:off x="228600" y="4342200"/>
            <a:ext cx="3631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TABLE OF </a:t>
            </a:r>
            <a:r>
              <a:rPr lang="en-GB" i="1" dirty="0"/>
              <a:t>CONTENTS</a:t>
            </a:r>
            <a:endParaRPr i="1" dirty="0"/>
          </a:p>
        </p:txBody>
      </p:sp>
      <p:sp>
        <p:nvSpPr>
          <p:cNvPr id="174" name="Google Shape;174;p28"/>
          <p:cNvSpPr txBox="1">
            <a:spLocks noGrp="1"/>
          </p:cNvSpPr>
          <p:nvPr>
            <p:ph type="subTitle" idx="1"/>
          </p:nvPr>
        </p:nvSpPr>
        <p:spPr>
          <a:xfrm>
            <a:off x="5252085" y="916305"/>
            <a:ext cx="2588895" cy="46164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altLang="en-GB"/>
              <a:t>STUDY OVERVIEW &amp; APPROACH</a:t>
            </a:r>
          </a:p>
        </p:txBody>
      </p:sp>
      <p:sp>
        <p:nvSpPr>
          <p:cNvPr id="175" name="Google Shape;175;p28"/>
          <p:cNvSpPr txBox="1">
            <a:spLocks noGrp="1"/>
          </p:cNvSpPr>
          <p:nvPr>
            <p:ph type="subTitle" idx="2"/>
          </p:nvPr>
        </p:nvSpPr>
        <p:spPr>
          <a:xfrm>
            <a:off x="5252085" y="1598295"/>
            <a:ext cx="2790825" cy="46164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altLang="en-GB"/>
              <a:t>DATA OVERVIEW &amp; SUMMARY</a:t>
            </a:r>
          </a:p>
        </p:txBody>
      </p:sp>
      <p:sp>
        <p:nvSpPr>
          <p:cNvPr id="176" name="Google Shape;176;p28"/>
          <p:cNvSpPr txBox="1">
            <a:spLocks noGrp="1"/>
          </p:cNvSpPr>
          <p:nvPr>
            <p:ph type="subTitle" idx="3"/>
          </p:nvPr>
        </p:nvSpPr>
        <p:spPr>
          <a:xfrm>
            <a:off x="5252085" y="2961640"/>
            <a:ext cx="3460115" cy="46164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altLang="en-GB"/>
              <a:t>TWO-SAMPLE NON-PARAMETRIC TESTS</a:t>
            </a:r>
          </a:p>
        </p:txBody>
      </p:sp>
      <p:sp>
        <p:nvSpPr>
          <p:cNvPr id="178" name="Google Shape;178;p28"/>
          <p:cNvSpPr txBox="1">
            <a:spLocks noGrp="1"/>
          </p:cNvSpPr>
          <p:nvPr>
            <p:ph type="subTitle" idx="5"/>
          </p:nvPr>
        </p:nvSpPr>
        <p:spPr>
          <a:xfrm>
            <a:off x="5252085" y="4324985"/>
            <a:ext cx="3529965" cy="46164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altLang="en-GB"/>
              <a:t>KEY IMPLICATIONS</a:t>
            </a:r>
          </a:p>
        </p:txBody>
      </p:sp>
      <p:sp>
        <p:nvSpPr>
          <p:cNvPr id="179" name="Google Shape;179;p28"/>
          <p:cNvSpPr txBox="1">
            <a:spLocks noGrp="1"/>
          </p:cNvSpPr>
          <p:nvPr>
            <p:ph type="subTitle" idx="6"/>
          </p:nvPr>
        </p:nvSpPr>
        <p:spPr>
          <a:xfrm>
            <a:off x="5252365" y="2279919"/>
            <a:ext cx="2743500" cy="4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altLang="en-GB"/>
              <a:t>ONE-SAMPLE NON-PARAMETRIC TESTS</a:t>
            </a:r>
          </a:p>
        </p:txBody>
      </p:sp>
      <p:sp>
        <p:nvSpPr>
          <p:cNvPr id="180" name="Google Shape;180;p28"/>
          <p:cNvSpPr txBox="1">
            <a:spLocks noGrp="1"/>
          </p:cNvSpPr>
          <p:nvPr>
            <p:ph type="subTitle" idx="7"/>
          </p:nvPr>
        </p:nvSpPr>
        <p:spPr>
          <a:xfrm>
            <a:off x="5252365" y="3643232"/>
            <a:ext cx="2743500" cy="4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altLang="en-GB"/>
              <a:t>CONCLUSION &amp; Key Findings</a:t>
            </a:r>
          </a:p>
        </p:txBody>
      </p:sp>
      <p:sp>
        <p:nvSpPr>
          <p:cNvPr id="181" name="Google Shape;181;p28"/>
          <p:cNvSpPr txBox="1">
            <a:spLocks noGrp="1"/>
          </p:cNvSpPr>
          <p:nvPr>
            <p:ph type="title" idx="8"/>
          </p:nvPr>
        </p:nvSpPr>
        <p:spPr>
          <a:xfrm>
            <a:off x="4386565" y="2961577"/>
            <a:ext cx="865800" cy="4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05</a:t>
            </a:r>
          </a:p>
        </p:txBody>
      </p:sp>
      <p:sp>
        <p:nvSpPr>
          <p:cNvPr id="182" name="Google Shape;182;p28"/>
          <p:cNvSpPr txBox="1">
            <a:spLocks noGrp="1"/>
          </p:cNvSpPr>
          <p:nvPr>
            <p:ph type="title" idx="9"/>
          </p:nvPr>
        </p:nvSpPr>
        <p:spPr>
          <a:xfrm>
            <a:off x="4386565" y="1598263"/>
            <a:ext cx="865800" cy="4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03</a:t>
            </a:r>
          </a:p>
        </p:txBody>
      </p:sp>
      <p:sp>
        <p:nvSpPr>
          <p:cNvPr id="183" name="Google Shape;183;p28"/>
          <p:cNvSpPr txBox="1">
            <a:spLocks noGrp="1"/>
          </p:cNvSpPr>
          <p:nvPr>
            <p:ph type="title" idx="13"/>
          </p:nvPr>
        </p:nvSpPr>
        <p:spPr>
          <a:xfrm>
            <a:off x="4386565" y="3643233"/>
            <a:ext cx="865800" cy="4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06</a:t>
            </a:r>
          </a:p>
        </p:txBody>
      </p:sp>
      <p:sp>
        <p:nvSpPr>
          <p:cNvPr id="184" name="Google Shape;184;p28"/>
          <p:cNvSpPr txBox="1">
            <a:spLocks noGrp="1"/>
          </p:cNvSpPr>
          <p:nvPr>
            <p:ph type="title" idx="14"/>
          </p:nvPr>
        </p:nvSpPr>
        <p:spPr>
          <a:xfrm>
            <a:off x="4386565" y="4324890"/>
            <a:ext cx="865800" cy="4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07</a:t>
            </a:r>
          </a:p>
        </p:txBody>
      </p:sp>
      <p:sp>
        <p:nvSpPr>
          <p:cNvPr id="185" name="Google Shape;185;p28"/>
          <p:cNvSpPr txBox="1">
            <a:spLocks noGrp="1"/>
          </p:cNvSpPr>
          <p:nvPr>
            <p:ph type="title" idx="15"/>
          </p:nvPr>
        </p:nvSpPr>
        <p:spPr>
          <a:xfrm>
            <a:off x="4386565" y="916607"/>
            <a:ext cx="865800" cy="4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02</a:t>
            </a:r>
          </a:p>
        </p:txBody>
      </p:sp>
      <p:sp>
        <p:nvSpPr>
          <p:cNvPr id="186" name="Google Shape;186;p28"/>
          <p:cNvSpPr txBox="1">
            <a:spLocks noGrp="1"/>
          </p:cNvSpPr>
          <p:nvPr>
            <p:ph type="title" idx="16"/>
          </p:nvPr>
        </p:nvSpPr>
        <p:spPr>
          <a:xfrm>
            <a:off x="4386565" y="2279920"/>
            <a:ext cx="865800" cy="4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04</a:t>
            </a:r>
          </a:p>
        </p:txBody>
      </p:sp>
      <p:sp>
        <p:nvSpPr>
          <p:cNvPr id="188" name="Google Shape;188;p28"/>
          <p:cNvSpPr txBox="1">
            <a:spLocks noGrp="1"/>
          </p:cNvSpPr>
          <p:nvPr>
            <p:ph type="subTitle" idx="18"/>
          </p:nvPr>
        </p:nvSpPr>
        <p:spPr>
          <a:xfrm>
            <a:off x="5252365" y="234950"/>
            <a:ext cx="2748000" cy="4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altLang="en-GB"/>
              <a:t>INTRODUCTION</a:t>
            </a:r>
          </a:p>
        </p:txBody>
      </p:sp>
      <p:sp>
        <p:nvSpPr>
          <p:cNvPr id="189" name="Google Shape;189;p28"/>
          <p:cNvSpPr txBox="1">
            <a:spLocks noGrp="1"/>
          </p:cNvSpPr>
          <p:nvPr>
            <p:ph type="title" idx="19"/>
          </p:nvPr>
        </p:nvSpPr>
        <p:spPr>
          <a:xfrm>
            <a:off x="4386565" y="234950"/>
            <a:ext cx="865800" cy="4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01</a:t>
            </a:r>
          </a:p>
        </p:txBody>
      </p:sp>
      <p:cxnSp>
        <p:nvCxnSpPr>
          <p:cNvPr id="190" name="Google Shape;190;p28"/>
          <p:cNvCxnSpPr>
            <a:cxnSpLocks/>
          </p:cNvCxnSpPr>
          <p:nvPr/>
        </p:nvCxnSpPr>
        <p:spPr>
          <a:xfrm>
            <a:off x="353785" y="4914900"/>
            <a:ext cx="3189514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1" name="Google Shape;191;p28"/>
          <p:cNvCxnSpPr/>
          <p:nvPr/>
        </p:nvCxnSpPr>
        <p:spPr>
          <a:xfrm>
            <a:off x="4643815" y="696650"/>
            <a:ext cx="3513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2" name="Google Shape;192;p28"/>
          <p:cNvCxnSpPr/>
          <p:nvPr/>
        </p:nvCxnSpPr>
        <p:spPr>
          <a:xfrm>
            <a:off x="4643815" y="1378306"/>
            <a:ext cx="3513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3" name="Google Shape;193;p28"/>
          <p:cNvCxnSpPr/>
          <p:nvPr/>
        </p:nvCxnSpPr>
        <p:spPr>
          <a:xfrm>
            <a:off x="4643815" y="2059963"/>
            <a:ext cx="3513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4" name="Google Shape;194;p28"/>
          <p:cNvCxnSpPr/>
          <p:nvPr/>
        </p:nvCxnSpPr>
        <p:spPr>
          <a:xfrm>
            <a:off x="4643815" y="2741619"/>
            <a:ext cx="3513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5" name="Google Shape;195;p28"/>
          <p:cNvCxnSpPr/>
          <p:nvPr/>
        </p:nvCxnSpPr>
        <p:spPr>
          <a:xfrm>
            <a:off x="4643815" y="3423276"/>
            <a:ext cx="3513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6" name="Google Shape;196;p28"/>
          <p:cNvCxnSpPr/>
          <p:nvPr/>
        </p:nvCxnSpPr>
        <p:spPr>
          <a:xfrm>
            <a:off x="4643815" y="4104932"/>
            <a:ext cx="3513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7" name="Google Shape;197;p28"/>
          <p:cNvCxnSpPr/>
          <p:nvPr/>
        </p:nvCxnSpPr>
        <p:spPr>
          <a:xfrm>
            <a:off x="4643815" y="4786589"/>
            <a:ext cx="3513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Google Shape;276;p35" title="wildfire-its-consequences-nature (6).jpg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/>
          <a:srcRect t="21875" b="21875"/>
          <a:stretch>
            <a:fillRect/>
          </a:stretch>
        </p:blipFill>
        <p:spPr>
          <a:xfrm flipH="1">
            <a:off x="0" y="0"/>
            <a:ext cx="9144003" cy="5143501"/>
          </a:xfrm>
          <a:prstGeom prst="rect">
            <a:avLst/>
          </a:prstGeom>
        </p:spPr>
      </p:pic>
      <p:sp>
        <p:nvSpPr>
          <p:cNvPr id="277" name="Google Shape;277;p35"/>
          <p:cNvSpPr txBox="1">
            <a:spLocks noGrp="1"/>
          </p:cNvSpPr>
          <p:nvPr>
            <p:ph type="title"/>
          </p:nvPr>
        </p:nvSpPr>
        <p:spPr>
          <a:xfrm>
            <a:off x="107315" y="123825"/>
            <a:ext cx="4767580" cy="3132455"/>
          </a:xfrm>
          <a:prstGeom prst="rect">
            <a:avLst/>
          </a:prstGeom>
          <a:solidFill>
            <a:srgbClr val="453937">
              <a:alpha val="54000"/>
            </a:srgbClr>
          </a:solidFill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 i="1" dirty="0">
                <a:solidFill>
                  <a:schemeClr val="dk1"/>
                </a:solidFill>
              </a:rPr>
              <a:t>Introduction</a:t>
            </a:r>
            <a:br>
              <a:rPr lang="en-IN" b="1" dirty="0">
                <a:solidFill>
                  <a:schemeClr val="dk1"/>
                </a:solidFill>
              </a:rPr>
            </a:br>
            <a:br>
              <a:rPr lang="en-IN" b="1" dirty="0">
                <a:solidFill>
                  <a:schemeClr val="dk1"/>
                </a:solidFill>
              </a:rPr>
            </a:br>
            <a:endParaRPr lang="en-IN" altLang="en-US" sz="1200" dirty="0">
              <a:solidFill>
                <a:schemeClr val="dk1"/>
              </a:solidFill>
              <a:latin typeface="Magneto" panose="04030805050802020D02" charset="0"/>
              <a:cs typeface="Magneto" panose="04030805050802020D02" charset="0"/>
            </a:endParaRPr>
          </a:p>
        </p:txBody>
      </p:sp>
      <p:cxnSp>
        <p:nvCxnSpPr>
          <p:cNvPr id="278" name="Google Shape;278;p35"/>
          <p:cNvCxnSpPr/>
          <p:nvPr/>
        </p:nvCxnSpPr>
        <p:spPr>
          <a:xfrm>
            <a:off x="179705" y="627380"/>
            <a:ext cx="216027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7" name="Google Shape;207;p29"/>
          <p:cNvSpPr txBox="1">
            <a:spLocks noGrp="1"/>
          </p:cNvSpPr>
          <p:nvPr>
            <p:ph type="subTitle" idx="1"/>
          </p:nvPr>
        </p:nvSpPr>
        <p:spPr>
          <a:xfrm>
            <a:off x="107315" y="843915"/>
            <a:ext cx="4920615" cy="214122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1200" dirty="0">
                <a:solidFill>
                  <a:schemeClr val="tx1"/>
                </a:solidFill>
              </a:rPr>
              <a:t>Forest fires cause severe environmental, economic, and social damage worldwide.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altLang="en-US" sz="1200" dirty="0">
              <a:solidFill>
                <a:schemeClr val="tx1"/>
              </a:solidFill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1200" dirty="0">
                <a:solidFill>
                  <a:schemeClr val="tx1"/>
                </a:solidFill>
              </a:rPr>
              <a:t>Predicting the extent of burned areas is vital for: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altLang="en-US" sz="1200" dirty="0">
              <a:solidFill>
                <a:schemeClr val="tx1"/>
              </a:solidFill>
            </a:endParaRPr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1200" dirty="0">
                <a:solidFill>
                  <a:schemeClr val="tx1"/>
                </a:solidFill>
              </a:rPr>
              <a:t>Efficient resource allocation in fire management.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altLang="en-US" sz="1200" dirty="0">
              <a:solidFill>
                <a:schemeClr val="tx1"/>
              </a:solidFill>
            </a:endParaRPr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1200" dirty="0">
                <a:solidFill>
                  <a:schemeClr val="tx1"/>
                </a:solidFill>
              </a:rPr>
              <a:t>Developing preventive and mitigation strategies.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altLang="en-US" sz="1200" dirty="0">
              <a:solidFill>
                <a:schemeClr val="tx1"/>
              </a:solidFill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1200" dirty="0">
                <a:solidFill>
                  <a:schemeClr val="tx1"/>
                </a:solidFill>
              </a:rPr>
              <a:t>Accurate prediction supports sustainable environmental planning and risk reduction.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Google Shape;276;p35" title="wildfire-its-consequences-nature (6).jpg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/>
          <a:srcRect t="21875" b="21875"/>
          <a:stretch>
            <a:fillRect/>
          </a:stretch>
        </p:blipFill>
        <p:spPr>
          <a:xfrm flipH="1">
            <a:off x="0" y="0"/>
            <a:ext cx="9144003" cy="5143501"/>
          </a:xfrm>
          <a:prstGeom prst="rect">
            <a:avLst/>
          </a:prstGeom>
        </p:spPr>
      </p:pic>
      <p:sp>
        <p:nvSpPr>
          <p:cNvPr id="277" name="Google Shape;277;p35"/>
          <p:cNvSpPr txBox="1">
            <a:spLocks noGrp="1"/>
          </p:cNvSpPr>
          <p:nvPr>
            <p:ph type="title"/>
          </p:nvPr>
        </p:nvSpPr>
        <p:spPr>
          <a:xfrm>
            <a:off x="107315" y="123825"/>
            <a:ext cx="5623560" cy="4238625"/>
          </a:xfrm>
          <a:prstGeom prst="rect">
            <a:avLst/>
          </a:prstGeom>
          <a:solidFill>
            <a:srgbClr val="453937">
              <a:alpha val="54000"/>
            </a:srgbClr>
          </a:solidFill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400" b="1" i="1">
                <a:solidFill>
                  <a:schemeClr val="dk1"/>
                </a:solidFill>
              </a:rPr>
              <a:t>Study Overview and Approach</a:t>
            </a:r>
            <a:br>
              <a:rPr lang="en-IN" b="1">
                <a:solidFill>
                  <a:schemeClr val="dk1"/>
                </a:solidFill>
              </a:rPr>
            </a:br>
            <a:br>
              <a:rPr lang="en-IN" b="1">
                <a:solidFill>
                  <a:schemeClr val="dk1"/>
                </a:solidFill>
              </a:rPr>
            </a:br>
            <a:endParaRPr lang="en-IN" altLang="en-US" sz="1200">
              <a:solidFill>
                <a:schemeClr val="dk1"/>
              </a:solidFill>
              <a:latin typeface="Magneto" panose="04030805050802020D02" charset="0"/>
              <a:cs typeface="Magneto" panose="04030805050802020D02" charset="0"/>
            </a:endParaRPr>
          </a:p>
        </p:txBody>
      </p:sp>
      <p:cxnSp>
        <p:nvCxnSpPr>
          <p:cNvPr id="278" name="Google Shape;278;p35"/>
          <p:cNvCxnSpPr/>
          <p:nvPr/>
        </p:nvCxnSpPr>
        <p:spPr>
          <a:xfrm>
            <a:off x="179705" y="627380"/>
            <a:ext cx="446405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7" name="Google Shape;207;p29"/>
          <p:cNvSpPr txBox="1">
            <a:spLocks noGrp="1"/>
          </p:cNvSpPr>
          <p:nvPr>
            <p:ph type="subTitle" idx="1"/>
          </p:nvPr>
        </p:nvSpPr>
        <p:spPr>
          <a:xfrm>
            <a:off x="107315" y="799465"/>
            <a:ext cx="5695950" cy="363918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1200" b="1" dirty="0">
                <a:solidFill>
                  <a:schemeClr val="tx1"/>
                </a:solidFill>
              </a:rPr>
              <a:t>Dataset</a:t>
            </a:r>
            <a:r>
              <a:rPr lang="en-US" altLang="en-US" sz="1200" dirty="0">
                <a:solidFill>
                  <a:schemeClr val="tx1"/>
                </a:solidFill>
              </a:rPr>
              <a:t>: Forest Fires dataset (Cortez &amp; Morais, 2007, UCI Repository)</a:t>
            </a:r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1200" dirty="0">
                <a:solidFill>
                  <a:schemeClr val="tx1"/>
                </a:solidFill>
                <a:sym typeface="+mn-ea"/>
              </a:rPr>
              <a:t>517 fire instances</a:t>
            </a:r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1200" dirty="0">
                <a:solidFill>
                  <a:schemeClr val="tx1"/>
                </a:solidFill>
                <a:sym typeface="+mn-ea"/>
              </a:rPr>
              <a:t>13 variables:</a:t>
            </a:r>
          </a:p>
          <a:p>
            <a:pPr marL="1085850" lvl="2" indent="-1714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1200" dirty="0">
                <a:solidFill>
                  <a:schemeClr val="tx1"/>
                </a:solidFill>
                <a:sym typeface="+mn-ea"/>
              </a:rPr>
              <a:t>Spatial: X, Y</a:t>
            </a:r>
          </a:p>
          <a:p>
            <a:pPr marL="1085850" lvl="2" indent="-1714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1200" dirty="0">
                <a:solidFill>
                  <a:schemeClr val="tx1"/>
                </a:solidFill>
                <a:sym typeface="+mn-ea"/>
              </a:rPr>
              <a:t>Temporal: month, day</a:t>
            </a:r>
          </a:p>
          <a:p>
            <a:pPr marL="1085850" lvl="2" indent="-1714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1200" dirty="0">
                <a:solidFill>
                  <a:schemeClr val="tx1"/>
                </a:solidFill>
                <a:sym typeface="+mn-ea"/>
              </a:rPr>
              <a:t>Fire Weather Index (FWI) components: FFMC, DMC, DC, ISI</a:t>
            </a:r>
          </a:p>
          <a:p>
            <a:pPr marL="1085850" lvl="2" indent="-1714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1200" dirty="0">
                <a:solidFill>
                  <a:schemeClr val="tx1"/>
                </a:solidFill>
                <a:sym typeface="+mn-ea"/>
              </a:rPr>
              <a:t>Meteorological: temp, RH, wind, rain</a:t>
            </a:r>
          </a:p>
          <a:p>
            <a:pPr marL="1085850" lvl="2" indent="-1714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1200" dirty="0">
                <a:solidFill>
                  <a:schemeClr val="tx1"/>
                </a:solidFill>
                <a:sym typeface="+mn-ea"/>
              </a:rPr>
              <a:t>Target: burned area (area)</a:t>
            </a:r>
          </a:p>
          <a:p>
            <a:pPr marL="1085850" lvl="2" indent="-1714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altLang="en-US" sz="1200" dirty="0">
              <a:solidFill>
                <a:schemeClr val="tx1"/>
              </a:solidFill>
            </a:endParaRPr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1200" b="1" dirty="0">
                <a:solidFill>
                  <a:schemeClr val="tx1"/>
                </a:solidFill>
                <a:sym typeface="+mn-ea"/>
              </a:rPr>
              <a:t>Challenge</a:t>
            </a:r>
            <a:r>
              <a:rPr lang="en-US" altLang="en-US" sz="1200" dirty="0">
                <a:solidFill>
                  <a:schemeClr val="tx1"/>
                </a:solidFill>
                <a:sym typeface="+mn-ea"/>
              </a:rPr>
              <a:t>: Burned area distribution is highly skewed, violating normality assumptions.</a:t>
            </a:r>
            <a:endParaRPr lang="en-US" altLang="en-US" sz="1200" dirty="0">
              <a:solidFill>
                <a:schemeClr val="tx1"/>
              </a:solidFill>
            </a:endParaRPr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1200" b="1" dirty="0">
                <a:solidFill>
                  <a:schemeClr val="tx1"/>
                </a:solidFill>
                <a:sym typeface="+mn-ea"/>
              </a:rPr>
              <a:t>Solution</a:t>
            </a:r>
            <a:r>
              <a:rPr lang="en-US" altLang="en-US" sz="1200" dirty="0">
                <a:solidFill>
                  <a:schemeClr val="tx1"/>
                </a:solidFill>
                <a:sym typeface="+mn-ea"/>
              </a:rPr>
              <a:t>: Use non-parametric statistical methods and rank-based analyses for robust inference.</a:t>
            </a:r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1200" b="1" dirty="0">
                <a:solidFill>
                  <a:schemeClr val="tx1"/>
                </a:solidFill>
                <a:sym typeface="+mn-ea"/>
              </a:rPr>
              <a:t>Preliminary Insights</a:t>
            </a:r>
            <a:r>
              <a:rPr lang="en-US" altLang="en-US" sz="1200" dirty="0">
                <a:solidFill>
                  <a:schemeClr val="tx1"/>
                </a:solidFill>
                <a:sym typeface="+mn-ea"/>
              </a:rPr>
              <a:t>:</a:t>
            </a:r>
          </a:p>
          <a:p>
            <a:pPr marL="1085850" lvl="2" indent="-1714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1200" dirty="0">
                <a:solidFill>
                  <a:schemeClr val="tx1"/>
                </a:solidFill>
                <a:sym typeface="+mn-ea"/>
              </a:rPr>
              <a:t>Significant links between FWI components, temperature, wind, and burned area.</a:t>
            </a:r>
            <a:endParaRPr lang="en-US" altLang="en-US" sz="1200" dirty="0">
              <a:solidFill>
                <a:schemeClr val="tx1"/>
              </a:solidFill>
            </a:endParaRPr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1200" b="1" dirty="0">
                <a:solidFill>
                  <a:schemeClr val="tx1"/>
                </a:solidFill>
                <a:sym typeface="+mn-ea"/>
              </a:rPr>
              <a:t>Outcome</a:t>
            </a:r>
            <a:r>
              <a:rPr lang="en-US" altLang="en-US" sz="1200" dirty="0">
                <a:solidFill>
                  <a:schemeClr val="tx1"/>
                </a:solidFill>
                <a:sym typeface="+mn-ea"/>
              </a:rPr>
              <a:t>: Demonstrates the value of spatial, temporal, and meteorological data in predictive fire modeling.</a:t>
            </a:r>
            <a:endParaRPr lang="en-US" altLang="en-US" sz="1200" dirty="0">
              <a:solidFill>
                <a:schemeClr val="tx1"/>
              </a:solidFill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 sz="12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4390" y="412115"/>
            <a:ext cx="3143885" cy="20193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9790" y="2715895"/>
            <a:ext cx="3118485" cy="20707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29" title="firefighters-helping-out-with-nature-wildfire.jpg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/>
          <a:srcRect t="7798" b="7806"/>
          <a:stretch>
            <a:fillRect/>
          </a:stretch>
        </p:blipFill>
        <p:spPr>
          <a:xfrm>
            <a:off x="0" y="125"/>
            <a:ext cx="9144003" cy="5143497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35"/>
          <p:cNvSpPr txBox="1">
            <a:spLocks noGrp="1"/>
          </p:cNvSpPr>
          <p:nvPr>
            <p:ph type="title"/>
          </p:nvPr>
        </p:nvSpPr>
        <p:spPr>
          <a:xfrm>
            <a:off x="107315" y="123825"/>
            <a:ext cx="4620895" cy="4323715"/>
          </a:xfrm>
          <a:prstGeom prst="rect">
            <a:avLst/>
          </a:prstGeom>
          <a:solidFill>
            <a:srgbClr val="453937">
              <a:alpha val="54000"/>
            </a:srgbClr>
          </a:solidFill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b="1" i="1">
                <a:solidFill>
                  <a:schemeClr val="dk1"/>
                </a:solidFill>
              </a:rPr>
              <a:t>Data Overview &amp; Summary</a:t>
            </a:r>
            <a:br>
              <a:rPr lang="en-IN" b="1">
                <a:solidFill>
                  <a:schemeClr val="dk1"/>
                </a:solidFill>
              </a:rPr>
            </a:br>
            <a:br>
              <a:rPr lang="en-IN" b="1">
                <a:solidFill>
                  <a:schemeClr val="dk1"/>
                </a:solidFill>
              </a:rPr>
            </a:br>
            <a:endParaRPr lang="en-IN" altLang="en-US" sz="1200">
              <a:solidFill>
                <a:schemeClr val="dk1"/>
              </a:solidFill>
              <a:latin typeface="Magneto" panose="04030805050802020D02" charset="0"/>
              <a:cs typeface="Magneto" panose="04030805050802020D02" charset="0"/>
            </a:endParaRPr>
          </a:p>
        </p:txBody>
      </p:sp>
      <p:cxnSp>
        <p:nvCxnSpPr>
          <p:cNvPr id="278" name="Google Shape;278;p35"/>
          <p:cNvCxnSpPr/>
          <p:nvPr/>
        </p:nvCxnSpPr>
        <p:spPr>
          <a:xfrm>
            <a:off x="179705" y="627380"/>
            <a:ext cx="4176395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07;p29"/>
          <p:cNvSpPr txBox="1">
            <a:spLocks noGrp="1"/>
          </p:cNvSpPr>
          <p:nvPr>
            <p:ph type="subTitle" idx="1"/>
          </p:nvPr>
        </p:nvSpPr>
        <p:spPr>
          <a:xfrm>
            <a:off x="107315" y="799465"/>
            <a:ext cx="4474210" cy="364998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1200" b="1">
                <a:sym typeface="+mn-ea"/>
              </a:rPr>
              <a:t>Dataset includes</a:t>
            </a:r>
            <a:r>
              <a:rPr lang="en-US" altLang="en-US" sz="1200">
                <a:sym typeface="+mn-ea"/>
              </a:rPr>
              <a:t>: </a:t>
            </a:r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1200" b="1">
                <a:sym typeface="+mn-ea"/>
              </a:rPr>
              <a:t>Categorical variables</a:t>
            </a:r>
            <a:r>
              <a:rPr lang="en-US" altLang="en-US" sz="1200">
                <a:sym typeface="+mn-ea"/>
              </a:rPr>
              <a:t>: month, day (capture temporal patterns)</a:t>
            </a:r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1200" b="1">
                <a:sym typeface="+mn-ea"/>
              </a:rPr>
              <a:t>Continuous variables</a:t>
            </a:r>
            <a:r>
              <a:rPr lang="en-US" altLang="en-US" sz="1200">
                <a:sym typeface="+mn-ea"/>
              </a:rPr>
              <a:t>: FFMC, DMC, DC, ISI, temp, RH, wind, rain, area (represent fire indices, weather, and fire severity)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1200">
                <a:sym typeface="+mn-ea"/>
              </a:rPr>
              <a:t>Understanding variable distributions helps reveal patterns and relationships.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1200">
                <a:sym typeface="+mn-ea"/>
              </a:rPr>
              <a:t>Time-series visualization shows how meteorological factors and burned area evolve over time — highlighting trends, seasonality, and outliers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1200">
                <a:sym typeface="+mn-ea"/>
              </a:rPr>
              <a:t>Two monthly subsets created for focused analysis:</a:t>
            </a:r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1200">
                <a:sym typeface="+mn-ea"/>
              </a:rPr>
              <a:t>August data and September data (critical fire months)</a:t>
            </a:r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1200">
                <a:sym typeface="+mn-ea"/>
              </a:rPr>
              <a:t>Enables detection of month-specific patterns possibly hidden in full dataset.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1200">
                <a:sym typeface="+mn-ea"/>
              </a:rPr>
              <a:t>Created a binary “fire occurrence” variable (fire vs. no-fire days)</a:t>
            </a:r>
            <a:r>
              <a:rPr lang="en-IN" altLang="en-US" sz="1200">
                <a:sym typeface="+mn-ea"/>
              </a:rPr>
              <a:t>, which</a:t>
            </a:r>
            <a:r>
              <a:rPr lang="en-US" altLang="en-US" sz="1200">
                <a:sym typeface="+mn-ea"/>
              </a:rPr>
              <a:t> supports two-sample non-parametric tests to compare conditions.</a:t>
            </a:r>
            <a:endParaRPr lang="en-US" altLang="en-US" sz="1200"/>
          </a:p>
        </p:txBody>
      </p:sp>
      <p:pic>
        <p:nvPicPr>
          <p:cNvPr id="6" name="Picture Placeholder 5"/>
          <p:cNvPicPr>
            <a:picLocks noGrp="1" noChangeAspect="1"/>
          </p:cNvPicPr>
          <p:nvPr>
            <p:ph type="pic" idx="2"/>
          </p:nvPr>
        </p:nvPicPr>
        <p:blipFill>
          <a:blip r:embed="rId4"/>
          <a:stretch>
            <a:fillRect/>
          </a:stretch>
        </p:blipFill>
        <p:spPr>
          <a:xfrm>
            <a:off x="4787900" y="628015"/>
            <a:ext cx="4251325" cy="36690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30" title="wildfire-its-consequences-nature (1).jpg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/>
          <a:srcRect t="43750"/>
          <a:stretch>
            <a:fillRect/>
          </a:stretch>
        </p:blipFill>
        <p:spPr>
          <a:xfrm flipH="1">
            <a:off x="0" y="0"/>
            <a:ext cx="9144003" cy="5143501"/>
          </a:xfrm>
          <a:prstGeom prst="rect">
            <a:avLst/>
          </a:prstGeom>
        </p:spPr>
      </p:pic>
      <p:sp>
        <p:nvSpPr>
          <p:cNvPr id="214" name="Google Shape;214;p30"/>
          <p:cNvSpPr/>
          <p:nvPr/>
        </p:nvSpPr>
        <p:spPr>
          <a:xfrm flipH="1">
            <a:off x="0" y="108585"/>
            <a:ext cx="4768215" cy="3061335"/>
          </a:xfrm>
          <a:prstGeom prst="rect">
            <a:avLst/>
          </a:prstGeom>
          <a:solidFill>
            <a:srgbClr val="453937">
              <a:alpha val="54000"/>
            </a:srgbClr>
          </a:solidFill>
          <a:ln>
            <a:noFill/>
          </a:ln>
          <a:effectLst>
            <a:outerShdw blurRad="214313" dist="142875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ind" panose="02000000000000000000"/>
              <a:ea typeface="Hind" panose="02000000000000000000"/>
              <a:cs typeface="Hind" panose="02000000000000000000"/>
              <a:sym typeface="Hind" panose="02000000000000000000"/>
            </a:endParaRPr>
          </a:p>
        </p:txBody>
      </p:sp>
      <p:sp>
        <p:nvSpPr>
          <p:cNvPr id="215" name="Google Shape;215;p30"/>
          <p:cNvSpPr txBox="1">
            <a:spLocks noGrp="1"/>
          </p:cNvSpPr>
          <p:nvPr>
            <p:ph type="title"/>
          </p:nvPr>
        </p:nvSpPr>
        <p:spPr>
          <a:xfrm flipH="1">
            <a:off x="107315" y="267970"/>
            <a:ext cx="4411345" cy="114109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altLang="en-GB" i="1"/>
              <a:t>One Sample Non-Parametric Tests</a:t>
            </a:r>
          </a:p>
        </p:txBody>
      </p:sp>
      <p:cxnSp>
        <p:nvCxnSpPr>
          <p:cNvPr id="217" name="Google Shape;217;p30"/>
          <p:cNvCxnSpPr/>
          <p:nvPr/>
        </p:nvCxnSpPr>
        <p:spPr>
          <a:xfrm flipH="1">
            <a:off x="179645" y="1409140"/>
            <a:ext cx="3331210" cy="10795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7" name="Google Shape;207;p29"/>
          <p:cNvSpPr txBox="1">
            <a:spLocks noGrp="1"/>
          </p:cNvSpPr>
          <p:nvPr>
            <p:ph type="subTitle" idx="1"/>
          </p:nvPr>
        </p:nvSpPr>
        <p:spPr>
          <a:xfrm>
            <a:off x="107950" y="1707515"/>
            <a:ext cx="4920615" cy="133794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altLang="en-US" sz="1600" b="1" dirty="0">
                <a:solidFill>
                  <a:schemeClr val="tx1"/>
                </a:solidFill>
              </a:rPr>
              <a:t>Runs Test for Randomness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IN" altLang="en-US" sz="1600" b="1" dirty="0">
              <a:solidFill>
                <a:schemeClr val="tx1"/>
              </a:solidFill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altLang="en-US" sz="1600" b="1" dirty="0">
                <a:solidFill>
                  <a:schemeClr val="tx1"/>
                </a:solidFill>
              </a:rPr>
              <a:t>Chi-Square Goodness-of-fit Test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IN" altLang="en-US" sz="1600" b="1" dirty="0">
              <a:solidFill>
                <a:schemeClr val="tx1"/>
              </a:solidFill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altLang="en-US" sz="1600" b="1" dirty="0">
                <a:solidFill>
                  <a:schemeClr val="tx1"/>
                </a:solidFill>
              </a:rPr>
              <a:t>Kolmogorov-Smirnov Test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7"/>
          <p:cNvSpPr txBox="1">
            <a:spLocks noGrp="1"/>
          </p:cNvSpPr>
          <p:nvPr>
            <p:ph type="title"/>
          </p:nvPr>
        </p:nvSpPr>
        <p:spPr>
          <a:xfrm>
            <a:off x="251460" y="195580"/>
            <a:ext cx="868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i="1"/>
              <a:t>Runs Test</a:t>
            </a:r>
          </a:p>
        </p:txBody>
      </p:sp>
      <p:cxnSp>
        <p:nvCxnSpPr>
          <p:cNvPr id="311" name="Google Shape;311;p37"/>
          <p:cNvCxnSpPr/>
          <p:nvPr/>
        </p:nvCxnSpPr>
        <p:spPr>
          <a:xfrm>
            <a:off x="304800" y="699065"/>
            <a:ext cx="160274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07;p29"/>
          <p:cNvSpPr txBox="1">
            <a:spLocks noGrp="1"/>
          </p:cNvSpPr>
          <p:nvPr>
            <p:ph type="subTitle" idx="1"/>
          </p:nvPr>
        </p:nvSpPr>
        <p:spPr>
          <a:xfrm>
            <a:off x="107315" y="772160"/>
            <a:ext cx="4683125" cy="417639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1200" b="1" dirty="0">
                <a:solidFill>
                  <a:schemeClr val="tx1"/>
                </a:solidFill>
                <a:sym typeface="+mn-ea"/>
              </a:rPr>
              <a:t>Objective</a:t>
            </a:r>
            <a:r>
              <a:rPr lang="en-US" altLang="en-US" sz="1200" dirty="0">
                <a:solidFill>
                  <a:schemeClr val="tx1"/>
                </a:solidFill>
                <a:sym typeface="+mn-ea"/>
              </a:rPr>
              <a:t>: To assess whether observations of key</a:t>
            </a:r>
            <a:r>
              <a:rPr lang="en-IN" altLang="en-US" sz="1200" dirty="0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en-US" sz="1200" dirty="0">
                <a:solidFill>
                  <a:schemeClr val="tx1"/>
                </a:solidFill>
                <a:sym typeface="+mn-ea"/>
              </a:rPr>
              <a:t>variables occur randomly over time 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altLang="en-US" sz="1200" dirty="0">
              <a:solidFill>
                <a:schemeClr val="tx1"/>
              </a:solidFill>
              <a:sym typeface="+mn-ea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1200" b="1" dirty="0">
                <a:solidFill>
                  <a:schemeClr val="tx1"/>
                </a:solidFill>
                <a:sym typeface="+mn-ea"/>
              </a:rPr>
              <a:t>Variables tested</a:t>
            </a:r>
            <a:r>
              <a:rPr lang="en-US" altLang="en-US" sz="1200" dirty="0">
                <a:solidFill>
                  <a:schemeClr val="tx1"/>
                </a:solidFill>
                <a:sym typeface="+mn-ea"/>
              </a:rPr>
              <a:t>: Temperature, </a:t>
            </a:r>
            <a:r>
              <a:rPr lang="en-IN" altLang="en-US" sz="1200" dirty="0">
                <a:solidFill>
                  <a:schemeClr val="tx1"/>
                </a:solidFill>
                <a:sym typeface="+mn-ea"/>
              </a:rPr>
              <a:t>Relative </a:t>
            </a:r>
            <a:r>
              <a:rPr lang="en-US" altLang="en-US" sz="1200" dirty="0">
                <a:solidFill>
                  <a:schemeClr val="tx1"/>
                </a:solidFill>
                <a:sym typeface="+mn-ea"/>
              </a:rPr>
              <a:t>Humidity, Wind</a:t>
            </a:r>
            <a:r>
              <a:rPr lang="en-IN" altLang="en-US" sz="1200" dirty="0">
                <a:solidFill>
                  <a:schemeClr val="tx1"/>
                </a:solidFill>
                <a:sym typeface="+mn-ea"/>
              </a:rPr>
              <a:t> Speed</a:t>
            </a:r>
            <a:r>
              <a:rPr lang="en-US" altLang="en-US" sz="1200" dirty="0">
                <a:solidFill>
                  <a:schemeClr val="tx1"/>
                </a:solidFill>
                <a:sym typeface="+mn-ea"/>
              </a:rPr>
              <a:t>, Rain</a:t>
            </a:r>
            <a:r>
              <a:rPr lang="en-IN" altLang="en-US" sz="1200" dirty="0">
                <a:solidFill>
                  <a:schemeClr val="tx1"/>
                </a:solidFill>
                <a:sym typeface="+mn-ea"/>
              </a:rPr>
              <a:t> </a:t>
            </a:r>
            <a:r>
              <a:rPr lang="en-IN" altLang="en-US" sz="1200" dirty="0" err="1">
                <a:solidFill>
                  <a:schemeClr val="tx1"/>
                </a:solidFill>
                <a:sym typeface="+mn-ea"/>
              </a:rPr>
              <a:t>Occurance</a:t>
            </a:r>
            <a:r>
              <a:rPr lang="en-US" altLang="en-US" sz="1200" dirty="0">
                <a:solidFill>
                  <a:schemeClr val="tx1"/>
                </a:solidFill>
                <a:sym typeface="+mn-ea"/>
              </a:rPr>
              <a:t>, </a:t>
            </a:r>
            <a:r>
              <a:rPr lang="en-IN" altLang="en-US" sz="1200" dirty="0">
                <a:solidFill>
                  <a:schemeClr val="tx1"/>
                </a:solidFill>
                <a:sym typeface="+mn-ea"/>
              </a:rPr>
              <a:t>Burned </a:t>
            </a:r>
            <a:r>
              <a:rPr lang="en-US" altLang="en-US" sz="1200" dirty="0">
                <a:solidFill>
                  <a:schemeClr val="tx1"/>
                </a:solidFill>
                <a:sym typeface="+mn-ea"/>
              </a:rPr>
              <a:t>Area</a:t>
            </a:r>
            <a:r>
              <a:rPr lang="en-IN" altLang="en-US" sz="1200" dirty="0">
                <a:solidFill>
                  <a:schemeClr val="tx1"/>
                </a:solidFill>
                <a:sym typeface="+mn-ea"/>
              </a:rPr>
              <a:t>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altLang="en-US" sz="1200" dirty="0">
              <a:solidFill>
                <a:schemeClr val="tx1"/>
              </a:solidFill>
              <a:sym typeface="+mn-ea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1200" b="1" dirty="0">
                <a:solidFill>
                  <a:schemeClr val="tx1"/>
                </a:solidFill>
                <a:sym typeface="+mn-ea"/>
              </a:rPr>
              <a:t>Hypotheses (generalized)</a:t>
            </a:r>
            <a:r>
              <a:rPr lang="en-US" altLang="en-US" sz="1200" dirty="0">
                <a:solidFill>
                  <a:schemeClr val="tx1"/>
                </a:solidFill>
                <a:sym typeface="+mn-ea"/>
              </a:rPr>
              <a:t>:</a:t>
            </a:r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1200" b="1" dirty="0">
                <a:solidFill>
                  <a:schemeClr val="tx1"/>
                </a:solidFill>
                <a:sym typeface="+mn-ea"/>
              </a:rPr>
              <a:t>H₀</a:t>
            </a:r>
            <a:r>
              <a:rPr lang="en-US" altLang="en-US" sz="1200" dirty="0">
                <a:solidFill>
                  <a:schemeClr val="tx1"/>
                </a:solidFill>
                <a:sym typeface="+mn-ea"/>
              </a:rPr>
              <a:t>: Observations (high and low values) occur in a random sequence</a:t>
            </a:r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1200" b="1" dirty="0">
                <a:solidFill>
                  <a:schemeClr val="tx1"/>
                </a:solidFill>
                <a:sym typeface="+mn-ea"/>
              </a:rPr>
              <a:t>H₁</a:t>
            </a:r>
            <a:r>
              <a:rPr lang="en-US" altLang="en-US" sz="1200" dirty="0">
                <a:solidFill>
                  <a:schemeClr val="tx1"/>
                </a:solidFill>
                <a:sym typeface="+mn-ea"/>
              </a:rPr>
              <a:t>: Observations (high and low values) occur in a non-random pattern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1200" dirty="0">
                <a:solidFill>
                  <a:schemeClr val="tx1"/>
                </a:solidFill>
              </a:rPr>
              <a:t>p-value </a:t>
            </a:r>
            <a:r>
              <a:rPr lang="en-IN" altLang="en-US" sz="1200" dirty="0">
                <a:solidFill>
                  <a:schemeClr val="tx1"/>
                </a:solidFill>
              </a:rPr>
              <a:t>(</a:t>
            </a:r>
            <a:r>
              <a:rPr lang="en-IN" altLang="en-US" sz="1200" dirty="0" err="1">
                <a:solidFill>
                  <a:schemeClr val="tx1"/>
                </a:solidFill>
              </a:rPr>
              <a:t>Temperrature</a:t>
            </a:r>
            <a:r>
              <a:rPr lang="en-IN" altLang="en-US" sz="1200" dirty="0">
                <a:solidFill>
                  <a:schemeClr val="tx1"/>
                </a:solidFill>
              </a:rPr>
              <a:t>)</a:t>
            </a:r>
            <a:r>
              <a:rPr lang="en-US" altLang="en-US" sz="1200" dirty="0">
                <a:solidFill>
                  <a:schemeClr val="tx1"/>
                </a:solidFill>
              </a:rPr>
              <a:t>= 1.66e-09</a:t>
            </a:r>
            <a:r>
              <a:rPr lang="en-IN" altLang="en-US" sz="1200" dirty="0">
                <a:solidFill>
                  <a:schemeClr val="tx1"/>
                </a:solidFill>
              </a:rPr>
              <a:t>, </a:t>
            </a:r>
            <a:r>
              <a:rPr lang="en-US" altLang="en-US" sz="1200" dirty="0">
                <a:solidFill>
                  <a:schemeClr val="tx1"/>
                </a:solidFill>
              </a:rPr>
              <a:t>p-value</a:t>
            </a:r>
            <a:r>
              <a:rPr lang="en-IN" altLang="en-US" sz="1200" dirty="0">
                <a:solidFill>
                  <a:schemeClr val="tx1"/>
                </a:solidFill>
              </a:rPr>
              <a:t>(RH)</a:t>
            </a:r>
            <a:r>
              <a:rPr lang="en-US" altLang="en-US" sz="1200" dirty="0">
                <a:solidFill>
                  <a:schemeClr val="tx1"/>
                </a:solidFill>
              </a:rPr>
              <a:t> = 0.004124</a:t>
            </a:r>
            <a:r>
              <a:rPr lang="en-IN" altLang="en-US" sz="1200" dirty="0">
                <a:solidFill>
                  <a:schemeClr val="tx1"/>
                </a:solidFill>
              </a:rPr>
              <a:t>, </a:t>
            </a:r>
            <a:r>
              <a:rPr lang="en-US" altLang="en-US" sz="1200" dirty="0">
                <a:solidFill>
                  <a:schemeClr val="tx1"/>
                </a:solidFill>
              </a:rPr>
              <a:t>p-value</a:t>
            </a:r>
            <a:r>
              <a:rPr lang="en-IN" altLang="en-US" sz="1200" dirty="0">
                <a:solidFill>
                  <a:schemeClr val="tx1"/>
                </a:solidFill>
              </a:rPr>
              <a:t>(wind)</a:t>
            </a:r>
            <a:r>
              <a:rPr lang="en-US" altLang="en-US" sz="1200" dirty="0">
                <a:solidFill>
                  <a:schemeClr val="tx1"/>
                </a:solidFill>
              </a:rPr>
              <a:t> = 0.007003</a:t>
            </a:r>
            <a:r>
              <a:rPr lang="en-IN" altLang="en-US" sz="1200" dirty="0">
                <a:solidFill>
                  <a:schemeClr val="tx1"/>
                </a:solidFill>
              </a:rPr>
              <a:t>, </a:t>
            </a:r>
            <a:r>
              <a:rPr lang="en-US" altLang="en-US" sz="1200" dirty="0">
                <a:solidFill>
                  <a:schemeClr val="tx1"/>
                </a:solidFill>
              </a:rPr>
              <a:t>p-value</a:t>
            </a:r>
            <a:r>
              <a:rPr lang="en-IN" altLang="en-US" sz="1200" dirty="0">
                <a:solidFill>
                  <a:schemeClr val="tx1"/>
                </a:solidFill>
              </a:rPr>
              <a:t>(area)</a:t>
            </a:r>
            <a:r>
              <a:rPr lang="en-US" altLang="en-US" sz="1200" dirty="0">
                <a:solidFill>
                  <a:schemeClr val="tx1"/>
                </a:solidFill>
              </a:rPr>
              <a:t> &lt; 2.2e-16</a:t>
            </a:r>
            <a:r>
              <a:rPr lang="en-IN" altLang="en-US" sz="1200" dirty="0">
                <a:solidFill>
                  <a:schemeClr val="tx1"/>
                </a:solidFill>
              </a:rPr>
              <a:t> and </a:t>
            </a:r>
            <a:r>
              <a:rPr lang="en-US" altLang="en-US" sz="1200" dirty="0">
                <a:solidFill>
                  <a:schemeClr val="tx1"/>
                </a:solidFill>
              </a:rPr>
              <a:t>p-value</a:t>
            </a:r>
            <a:r>
              <a:rPr lang="en-IN" altLang="en-US" sz="1200" dirty="0">
                <a:solidFill>
                  <a:schemeClr val="tx1"/>
                </a:solidFill>
              </a:rPr>
              <a:t>(rain)</a:t>
            </a:r>
            <a:r>
              <a:rPr lang="en-US" altLang="en-US" sz="1200" dirty="0">
                <a:solidFill>
                  <a:schemeClr val="tx1"/>
                </a:solidFill>
              </a:rPr>
              <a:t> &lt; 2.2e-16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altLang="en-US" sz="1200" b="1" dirty="0">
                <a:solidFill>
                  <a:schemeClr val="tx1"/>
                </a:solidFill>
              </a:rPr>
              <a:t>Conclusion</a:t>
            </a:r>
            <a:r>
              <a:rPr lang="en-IN" altLang="en-US" sz="1200" dirty="0">
                <a:solidFill>
                  <a:schemeClr val="tx1"/>
                </a:solidFill>
              </a:rPr>
              <a:t> : We can see that in all the cases p-value&lt;&lt;0.05, thus we may reject H</a:t>
            </a:r>
            <a:r>
              <a:rPr lang="en-IN" altLang="en-US" sz="1200" baseline="-25000" dirty="0">
                <a:solidFill>
                  <a:schemeClr val="tx1"/>
                </a:solidFill>
              </a:rPr>
              <a:t>0</a:t>
            </a:r>
            <a:r>
              <a:rPr lang="en-IN" altLang="en-US" sz="1200" dirty="0">
                <a:solidFill>
                  <a:schemeClr val="tx1"/>
                </a:solidFill>
              </a:rPr>
              <a:t> and conclude that observation occur in non-random pattern.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altLang="en-US" sz="1200" dirty="0">
              <a:solidFill>
                <a:schemeClr val="tx1"/>
              </a:solidFill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1200" dirty="0">
                <a:solidFill>
                  <a:schemeClr val="tx1"/>
                </a:solidFill>
              </a:rPr>
              <a:t>Weather phenomena are inherently persistent.</a:t>
            </a:r>
            <a:r>
              <a:rPr lang="en-IN" altLang="en-US" sz="1200" dirty="0">
                <a:solidFill>
                  <a:schemeClr val="tx1"/>
                </a:solidFill>
              </a:rPr>
              <a:t> For e.g.</a:t>
            </a:r>
            <a:r>
              <a:rPr lang="en-US" altLang="en-US" sz="1200" dirty="0">
                <a:solidFill>
                  <a:schemeClr val="tx1"/>
                </a:solidFill>
              </a:rPr>
              <a:t> </a:t>
            </a:r>
            <a:r>
              <a:rPr lang="en-IN" altLang="en-US" sz="1200" dirty="0">
                <a:solidFill>
                  <a:schemeClr val="tx1"/>
                </a:solidFill>
              </a:rPr>
              <a:t>a</a:t>
            </a:r>
            <a:r>
              <a:rPr lang="en-US" altLang="en-US" sz="1200" dirty="0">
                <a:solidFill>
                  <a:schemeClr val="tx1"/>
                </a:solidFill>
              </a:rPr>
              <a:t> day with high wind speed is often followed by another high-wind day until the weather system changes.</a:t>
            </a:r>
            <a:r>
              <a:rPr lang="en-IN" altLang="en-US" sz="1200" dirty="0">
                <a:solidFill>
                  <a:schemeClr val="tx1"/>
                </a:solidFill>
              </a:rPr>
              <a:t>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3800" y="2602230"/>
            <a:ext cx="3969385" cy="245046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7610" y="123825"/>
            <a:ext cx="3974465" cy="245554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7"/>
          <p:cNvSpPr txBox="1">
            <a:spLocks noGrp="1"/>
          </p:cNvSpPr>
          <p:nvPr>
            <p:ph type="title"/>
          </p:nvPr>
        </p:nvSpPr>
        <p:spPr>
          <a:xfrm>
            <a:off x="251460" y="195580"/>
            <a:ext cx="868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i="1"/>
              <a:t>Chi-Sq GoF Test</a:t>
            </a:r>
          </a:p>
        </p:txBody>
      </p:sp>
      <p:cxnSp>
        <p:nvCxnSpPr>
          <p:cNvPr id="311" name="Google Shape;311;p37"/>
          <p:cNvCxnSpPr/>
          <p:nvPr/>
        </p:nvCxnSpPr>
        <p:spPr>
          <a:xfrm>
            <a:off x="304800" y="699065"/>
            <a:ext cx="261112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07;p29"/>
          <p:cNvSpPr txBox="1">
            <a:spLocks noGrp="1"/>
          </p:cNvSpPr>
          <p:nvPr>
            <p:ph type="subTitle" idx="1"/>
          </p:nvPr>
        </p:nvSpPr>
        <p:spPr>
          <a:xfrm>
            <a:off x="107315" y="772160"/>
            <a:ext cx="7808595" cy="126238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1200" b="1" dirty="0">
                <a:solidFill>
                  <a:schemeClr val="tx1"/>
                </a:solidFill>
                <a:sym typeface="+mn-ea"/>
              </a:rPr>
              <a:t>Objective</a:t>
            </a:r>
            <a:r>
              <a:rPr lang="en-US" altLang="en-US" sz="1200" dirty="0">
                <a:solidFill>
                  <a:schemeClr val="tx1"/>
                </a:solidFill>
                <a:sym typeface="+mn-ea"/>
              </a:rPr>
              <a:t>: </a:t>
            </a:r>
            <a:r>
              <a:rPr lang="en-IN" altLang="en-US" sz="1200" dirty="0">
                <a:solidFill>
                  <a:schemeClr val="tx1"/>
                </a:solidFill>
                <a:sym typeface="+mn-ea"/>
              </a:rPr>
              <a:t>To </a:t>
            </a:r>
            <a:r>
              <a:rPr lang="en-US" altLang="en-US" sz="1200" dirty="0">
                <a:solidFill>
                  <a:schemeClr val="tx1"/>
                </a:solidFill>
                <a:sym typeface="+mn-ea"/>
              </a:rPr>
              <a:t>assess</a:t>
            </a:r>
            <a:r>
              <a:rPr lang="en-IN" altLang="en-US" sz="1200" dirty="0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en-US" sz="1200" dirty="0">
                <a:solidFill>
                  <a:schemeClr val="tx1"/>
                </a:solidFill>
                <a:sym typeface="+mn-ea"/>
              </a:rPr>
              <a:t>whether categorical data follow a specified theoretical distribution.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1200" b="1" dirty="0">
                <a:solidFill>
                  <a:schemeClr val="tx1"/>
                </a:solidFill>
                <a:sym typeface="+mn-ea"/>
              </a:rPr>
              <a:t>Hypotheses</a:t>
            </a:r>
            <a:r>
              <a:rPr lang="en-US" altLang="en-US" sz="1200" dirty="0">
                <a:solidFill>
                  <a:schemeClr val="tx1"/>
                </a:solidFill>
                <a:sym typeface="+mn-ea"/>
              </a:rPr>
              <a:t>:</a:t>
            </a:r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1200" b="1" dirty="0">
                <a:solidFill>
                  <a:schemeClr val="tx1"/>
                </a:solidFill>
              </a:rPr>
              <a:t>H</a:t>
            </a:r>
            <a:r>
              <a:rPr lang="en-US" altLang="en-US" sz="1200" b="1" baseline="-25000" dirty="0">
                <a:solidFill>
                  <a:schemeClr val="tx1"/>
                </a:solidFill>
              </a:rPr>
              <a:t>0</a:t>
            </a:r>
            <a:r>
              <a:rPr lang="en-US" altLang="en-US" sz="1200" dirty="0">
                <a:solidFill>
                  <a:schemeClr val="tx1"/>
                </a:solidFill>
              </a:rPr>
              <a:t>: Forest fires are uniformly distributed across months.</a:t>
            </a:r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1200" b="1" dirty="0">
                <a:solidFill>
                  <a:schemeClr val="tx1"/>
                </a:solidFill>
                <a:sym typeface="+mn-ea"/>
              </a:rPr>
              <a:t>H</a:t>
            </a:r>
            <a:r>
              <a:rPr lang="en-US" altLang="en-US" sz="1200" b="1" baseline="-25000" dirty="0">
                <a:solidFill>
                  <a:schemeClr val="tx1"/>
                </a:solidFill>
                <a:sym typeface="+mn-ea"/>
              </a:rPr>
              <a:t>1</a:t>
            </a:r>
            <a:r>
              <a:rPr lang="en-US" altLang="en-US" sz="1200" dirty="0">
                <a:solidFill>
                  <a:schemeClr val="tx1"/>
                </a:solidFill>
                <a:sym typeface="+mn-ea"/>
              </a:rPr>
              <a:t>: Forest fires are not uniformly distributed across months</a:t>
            </a:r>
            <a:endParaRPr lang="en-US" altLang="en-US" sz="1200" dirty="0">
              <a:solidFill>
                <a:schemeClr val="tx1"/>
              </a:solidFill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1200" b="1" dirty="0">
                <a:solidFill>
                  <a:schemeClr val="tx1"/>
                </a:solidFill>
              </a:rPr>
              <a:t>Conclusion</a:t>
            </a:r>
            <a:r>
              <a:rPr lang="en-US" altLang="en-US" sz="1200" dirty="0">
                <a:solidFill>
                  <a:schemeClr val="tx1"/>
                </a:solidFill>
              </a:rPr>
              <a:t>: Fire frequency varies significantly by month (p &lt; 0.001), revealing strong</a:t>
            </a:r>
            <a:r>
              <a:rPr lang="en-IN" altLang="en-US" sz="1200" dirty="0">
                <a:solidFill>
                  <a:schemeClr val="tx1"/>
                </a:solidFill>
              </a:rPr>
              <a:t> </a:t>
            </a:r>
            <a:r>
              <a:rPr lang="en-US" altLang="en-US" sz="1200" dirty="0">
                <a:solidFill>
                  <a:schemeClr val="tx1"/>
                </a:solidFill>
              </a:rPr>
              <a:t>seasonal patterns with peak fire activity concentrated in specific months</a:t>
            </a:r>
            <a:r>
              <a:rPr lang="en-IN" altLang="en-US" sz="1200" dirty="0">
                <a:solidFill>
                  <a:schemeClr val="tx1"/>
                </a:solidFill>
              </a:rPr>
              <a:t>(which are August and September)</a:t>
            </a:r>
            <a:r>
              <a:rPr lang="en-US" altLang="en-US" sz="1200" dirty="0">
                <a:solidFill>
                  <a:schemeClr val="tx1"/>
                </a:solidFill>
              </a:rPr>
              <a:t>.</a:t>
            </a:r>
          </a:p>
        </p:txBody>
      </p:sp>
      <p:pic>
        <p:nvPicPr>
          <p:cNvPr id="2" name="Pictur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1595" y="2061845"/>
            <a:ext cx="6263005" cy="30289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7"/>
          <p:cNvSpPr txBox="1">
            <a:spLocks noGrp="1"/>
          </p:cNvSpPr>
          <p:nvPr>
            <p:ph type="title"/>
          </p:nvPr>
        </p:nvSpPr>
        <p:spPr>
          <a:xfrm>
            <a:off x="251460" y="195580"/>
            <a:ext cx="868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i="1"/>
              <a:t>Kolmogorov-Smirnov Test</a:t>
            </a:r>
          </a:p>
        </p:txBody>
      </p:sp>
      <p:cxnSp>
        <p:nvCxnSpPr>
          <p:cNvPr id="311" name="Google Shape;311;p37"/>
          <p:cNvCxnSpPr/>
          <p:nvPr/>
        </p:nvCxnSpPr>
        <p:spPr>
          <a:xfrm>
            <a:off x="304800" y="699065"/>
            <a:ext cx="4338955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07;p29"/>
          <p:cNvSpPr txBox="1">
            <a:spLocks noGrp="1"/>
          </p:cNvSpPr>
          <p:nvPr>
            <p:ph type="subTitle" idx="1"/>
          </p:nvPr>
        </p:nvSpPr>
        <p:spPr>
          <a:xfrm>
            <a:off x="107315" y="772160"/>
            <a:ext cx="4994910" cy="378333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1200" b="1" dirty="0">
                <a:solidFill>
                  <a:schemeClr val="tx1"/>
                </a:solidFill>
                <a:sym typeface="+mn-ea"/>
              </a:rPr>
              <a:t>Objective</a:t>
            </a:r>
            <a:r>
              <a:rPr lang="en-US" altLang="en-US" sz="1200" dirty="0">
                <a:solidFill>
                  <a:schemeClr val="tx1"/>
                </a:solidFill>
                <a:sym typeface="+mn-ea"/>
              </a:rPr>
              <a:t>: To compare the</a:t>
            </a:r>
            <a:r>
              <a:rPr lang="en-IN" altLang="en-US" sz="1200" dirty="0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en-US" sz="1200" dirty="0">
                <a:solidFill>
                  <a:schemeClr val="tx1"/>
                </a:solidFill>
                <a:sym typeface="+mn-ea"/>
              </a:rPr>
              <a:t>empirical distribution of a variable to a theoretical distribution (e.g., normal, exponential,</a:t>
            </a:r>
            <a:r>
              <a:rPr lang="en-IN" altLang="en-US" sz="1200" dirty="0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en-US" sz="1200" dirty="0">
                <a:solidFill>
                  <a:schemeClr val="tx1"/>
                </a:solidFill>
                <a:sym typeface="+mn-ea"/>
              </a:rPr>
              <a:t>Gumbel)</a:t>
            </a:r>
            <a:r>
              <a:rPr lang="en-IN" altLang="en-US" sz="1200" dirty="0">
                <a:solidFill>
                  <a:schemeClr val="tx1"/>
                </a:solidFill>
                <a:sym typeface="+mn-ea"/>
              </a:rPr>
              <a:t> and</a:t>
            </a:r>
            <a:r>
              <a:rPr lang="en-US" altLang="en-US" sz="1200" dirty="0">
                <a:solidFill>
                  <a:schemeClr val="tx1"/>
                </a:solidFill>
                <a:sym typeface="+mn-ea"/>
              </a:rPr>
              <a:t> evaluate whether the observed data could plausibly come from that distribution. 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altLang="en-US" sz="1200" dirty="0">
              <a:solidFill>
                <a:schemeClr val="tx1"/>
              </a:solidFill>
              <a:sym typeface="+mn-ea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altLang="en-US" sz="1200" dirty="0">
              <a:solidFill>
                <a:schemeClr val="tx1"/>
              </a:solidFill>
              <a:sym typeface="+mn-ea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altLang="en-US" sz="1200" b="1" dirty="0">
                <a:solidFill>
                  <a:schemeClr val="tx1"/>
                </a:solidFill>
              </a:rPr>
              <a:t>Hypothesis</a:t>
            </a:r>
            <a:r>
              <a:rPr lang="en-IN" altLang="en-US" sz="1200" dirty="0">
                <a:solidFill>
                  <a:schemeClr val="tx1"/>
                </a:solidFill>
              </a:rPr>
              <a:t>:</a:t>
            </a:r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1200" b="1" dirty="0">
                <a:solidFill>
                  <a:schemeClr val="tx1"/>
                </a:solidFill>
              </a:rPr>
              <a:t>H</a:t>
            </a:r>
            <a:r>
              <a:rPr lang="en-US" altLang="en-US" sz="1200" b="1" baseline="-25000" dirty="0">
                <a:solidFill>
                  <a:schemeClr val="tx1"/>
                </a:solidFill>
              </a:rPr>
              <a:t>0</a:t>
            </a:r>
            <a:r>
              <a:rPr lang="en-US" altLang="en-US" sz="1200" dirty="0">
                <a:solidFill>
                  <a:schemeClr val="tx1"/>
                </a:solidFill>
              </a:rPr>
              <a:t>: The burnt area follows a shifted exponential distribution</a:t>
            </a:r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1200" b="1" dirty="0">
                <a:solidFill>
                  <a:schemeClr val="tx1"/>
                </a:solidFill>
              </a:rPr>
              <a:t>H</a:t>
            </a:r>
            <a:r>
              <a:rPr lang="en-US" altLang="en-US" sz="1200" b="1" baseline="-25000" dirty="0">
                <a:solidFill>
                  <a:schemeClr val="tx1"/>
                </a:solidFill>
              </a:rPr>
              <a:t>1</a:t>
            </a:r>
            <a:r>
              <a:rPr lang="en-US" altLang="en-US" sz="1200" dirty="0">
                <a:solidFill>
                  <a:schemeClr val="tx1"/>
                </a:solidFill>
              </a:rPr>
              <a:t>: The burnt area does not follow a shifted exponential distribution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1200" b="1" dirty="0">
                <a:solidFill>
                  <a:schemeClr val="tx1"/>
                </a:solidFill>
              </a:rPr>
              <a:t>Conclusion</a:t>
            </a:r>
            <a:r>
              <a:rPr lang="en-US" altLang="en-US" sz="1200" dirty="0">
                <a:solidFill>
                  <a:schemeClr val="tx1"/>
                </a:solidFill>
              </a:rPr>
              <a:t>: Burned area does not follow a shifted exponential distribution</a:t>
            </a:r>
            <a:r>
              <a:rPr lang="en-IN" altLang="en-US" sz="1200" dirty="0">
                <a:solidFill>
                  <a:schemeClr val="tx1"/>
                </a:solidFill>
              </a:rPr>
              <a:t>(</a:t>
            </a:r>
            <a:r>
              <a:rPr lang="en-US" altLang="en-US" sz="1200" dirty="0">
                <a:solidFill>
                  <a:schemeClr val="tx1"/>
                </a:solidFill>
              </a:rPr>
              <a:t>p-value &lt; 2.2e-16</a:t>
            </a:r>
            <a:r>
              <a:rPr lang="en-IN" altLang="en-US" sz="1200" dirty="0">
                <a:solidFill>
                  <a:schemeClr val="tx1"/>
                </a:solidFill>
              </a:rPr>
              <a:t>)</a:t>
            </a:r>
            <a:r>
              <a:rPr lang="en-US" altLang="en-US" sz="1200" dirty="0">
                <a:solidFill>
                  <a:schemeClr val="tx1"/>
                </a:solidFill>
              </a:rPr>
              <a:t>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altLang="en-US" sz="1200" dirty="0">
              <a:solidFill>
                <a:schemeClr val="tx1"/>
              </a:solidFill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altLang="en-US" sz="1200" dirty="0">
              <a:solidFill>
                <a:schemeClr val="tx1"/>
              </a:solidFill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altLang="en-US" sz="1200" b="1" dirty="0">
                <a:solidFill>
                  <a:schemeClr val="tx1"/>
                </a:solidFill>
              </a:rPr>
              <a:t>Hypothesis</a:t>
            </a:r>
            <a:r>
              <a:rPr lang="en-IN" altLang="en-US" sz="1200" dirty="0">
                <a:solidFill>
                  <a:schemeClr val="tx1"/>
                </a:solidFill>
              </a:rPr>
              <a:t>:</a:t>
            </a:r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1200" b="1" dirty="0">
                <a:solidFill>
                  <a:schemeClr val="tx1"/>
                </a:solidFill>
              </a:rPr>
              <a:t>H</a:t>
            </a:r>
            <a:r>
              <a:rPr lang="en-US" altLang="en-US" sz="1200" b="1" baseline="-25000" dirty="0">
                <a:solidFill>
                  <a:schemeClr val="tx1"/>
                </a:solidFill>
              </a:rPr>
              <a:t>0</a:t>
            </a:r>
            <a:r>
              <a:rPr lang="en-US" altLang="en-US" sz="1200" dirty="0">
                <a:solidFill>
                  <a:schemeClr val="tx1"/>
                </a:solidFill>
              </a:rPr>
              <a:t>: Temperature follows a normal distribution.</a:t>
            </a:r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1200" b="1" dirty="0">
                <a:solidFill>
                  <a:schemeClr val="tx1"/>
                </a:solidFill>
              </a:rPr>
              <a:t>H</a:t>
            </a:r>
            <a:r>
              <a:rPr lang="en-US" altLang="en-US" sz="1200" b="1" baseline="-25000" dirty="0">
                <a:solidFill>
                  <a:schemeClr val="tx1"/>
                </a:solidFill>
              </a:rPr>
              <a:t>1</a:t>
            </a:r>
            <a:r>
              <a:rPr lang="en-US" altLang="en-US" sz="1200" dirty="0">
                <a:solidFill>
                  <a:schemeClr val="tx1"/>
                </a:solidFill>
              </a:rPr>
              <a:t>: Temperature does not follow a normal distribution.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1200" b="1" dirty="0">
                <a:solidFill>
                  <a:schemeClr val="tx1"/>
                </a:solidFill>
              </a:rPr>
              <a:t>Conclusion</a:t>
            </a:r>
            <a:r>
              <a:rPr lang="en-US" altLang="en-US" sz="1200" dirty="0">
                <a:solidFill>
                  <a:schemeClr val="tx1"/>
                </a:solidFill>
              </a:rPr>
              <a:t>: Temperature is consistent with normal distribution (p = 0.139)</a:t>
            </a:r>
          </a:p>
        </p:txBody>
      </p:sp>
      <p:pic>
        <p:nvPicPr>
          <p:cNvPr id="2" name="Pictur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5300" y="339725"/>
            <a:ext cx="3237865" cy="246570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4665" y="2860040"/>
            <a:ext cx="3238500" cy="21717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7"/>
          <p:cNvSpPr txBox="1">
            <a:spLocks noGrp="1"/>
          </p:cNvSpPr>
          <p:nvPr>
            <p:ph type="title"/>
          </p:nvPr>
        </p:nvSpPr>
        <p:spPr>
          <a:xfrm>
            <a:off x="251460" y="195580"/>
            <a:ext cx="868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i="1"/>
              <a:t>Kolmogorov-Smirnov Test</a:t>
            </a:r>
          </a:p>
        </p:txBody>
      </p:sp>
      <p:cxnSp>
        <p:nvCxnSpPr>
          <p:cNvPr id="311" name="Google Shape;311;p37"/>
          <p:cNvCxnSpPr/>
          <p:nvPr/>
        </p:nvCxnSpPr>
        <p:spPr>
          <a:xfrm>
            <a:off x="304800" y="699065"/>
            <a:ext cx="4338955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Google Shape;207;p29"/>
              <p:cNvSpPr txBox="1">
                <a:spLocks noGrp="1"/>
              </p:cNvSpPr>
              <p:nvPr>
                <p:ph type="subTitle" idx="1"/>
              </p:nvPr>
            </p:nvSpPr>
            <p:spPr>
              <a:xfrm>
                <a:off x="107315" y="772160"/>
                <a:ext cx="4994910" cy="397256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171450" lvl="0" indent="-17145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r>
                  <a:rPr lang="en-US" altLang="en-US" sz="1200" dirty="0">
                    <a:solidFill>
                      <a:schemeClr val="tx1"/>
                    </a:solidFill>
                    <a:sym typeface="+mn-ea"/>
                  </a:rPr>
                  <a:t>The </a:t>
                </a:r>
                <a:r>
                  <a:rPr lang="en-US" altLang="en-US" sz="1200" b="1" dirty="0">
                    <a:solidFill>
                      <a:schemeClr val="tx1"/>
                    </a:solidFill>
                    <a:sym typeface="+mn-ea"/>
                  </a:rPr>
                  <a:t>Gumbel distribution</a:t>
                </a:r>
                <a:r>
                  <a:rPr lang="en-US" altLang="en-US" sz="1200" dirty="0">
                    <a:solidFill>
                      <a:schemeClr val="tx1"/>
                    </a:solidFill>
                    <a:sym typeface="+mn-ea"/>
                  </a:rPr>
                  <a:t> is an extreme value distribution used to model the distribution of the maximum (or minimum) of a dataset — commonly applied in meteorology and hydrology to analyze extreme events like floods, rainfall, or temperature peaks.</a:t>
                </a:r>
              </a:p>
              <a:p>
                <a:pPr lvl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tx1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1200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  <a:sym typeface="+mn-ea"/>
                        </a:rPr>
                        <m:t>𝑓</m:t>
                      </m:r>
                      <m:r>
                        <a:rPr lang="en-US" altLang="en-US" sz="1200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  <a:sym typeface="+mn-ea"/>
                        </a:rPr>
                        <m:t>(</m:t>
                      </m:r>
                      <m:r>
                        <a:rPr lang="en-US" altLang="en-US" sz="1200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  <a:sym typeface="+mn-ea"/>
                        </a:rPr>
                        <m:t>𝑥</m:t>
                      </m:r>
                      <m:r>
                        <a:rPr lang="en-US" altLang="en-US" sz="1200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  <a:sym typeface="+mn-ea"/>
                        </a:rPr>
                        <m:t>:</m:t>
                      </m:r>
                      <m:r>
                        <a:rPr lang="en-US" altLang="en-US" sz="1200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  <a:sym typeface="+mn-ea"/>
                        </a:rPr>
                        <m:t>𝜇</m:t>
                      </m:r>
                      <m:r>
                        <a:rPr lang="en-US" altLang="en-US" sz="1200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  <a:sym typeface="+mn-ea"/>
                        </a:rPr>
                        <m:t>,</m:t>
                      </m:r>
                      <m:r>
                        <a:rPr lang="en-US" altLang="en-US" sz="1200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  <a:sym typeface="+mn-ea"/>
                        </a:rPr>
                        <m:t>𝜎</m:t>
                      </m:r>
                      <m:r>
                        <a:rPr lang="en-US" altLang="en-US" sz="1200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  <a:sym typeface="+mn-ea"/>
                        </a:rPr>
                        <m:t>) = </m:t>
                      </m:r>
                      <m:f>
                        <m:fPr>
                          <m:ctrlPr>
                            <a:rPr lang="en-US" alt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mbria Math" panose="02040503050406030204" charset="0"/>
                              <a:sym typeface="+mn-ea"/>
                            </a:rPr>
                          </m:ctrlPr>
                        </m:fPr>
                        <m:num>
                          <m:r>
                            <a:rPr lang="en-US" altLang="en-US" sz="12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  <a:sym typeface="+mn-ea"/>
                            </a:rPr>
                            <m:t>1</m:t>
                          </m:r>
                        </m:num>
                        <m:den>
                          <m:r>
                            <a:rPr lang="en-US" altLang="en-US" sz="12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  <a:sym typeface="+mn-ea"/>
                            </a:rPr>
                            <m:t>𝜎</m:t>
                          </m:r>
                        </m:den>
                      </m:f>
                      <m:r>
                        <a:rPr lang="en-US" altLang="en-US" sz="1200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  <a:sym typeface="+mn-ea"/>
                        </a:rPr>
                        <m:t>𝑒𝑥𝑝</m:t>
                      </m:r>
                      <m:r>
                        <a:rPr lang="en-US" altLang="en-US" sz="1200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  <a:sym typeface="+mn-ea"/>
                        </a:rPr>
                        <m:t>[−(</m:t>
                      </m:r>
                      <m:f>
                        <m:fPr>
                          <m:ctrlPr>
                            <a:rPr lang="en-US" alt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mbria Math" panose="02040503050406030204" charset="0"/>
                              <a:sym typeface="+mn-ea"/>
                            </a:rPr>
                          </m:ctrlPr>
                        </m:fPr>
                        <m:num>
                          <m:r>
                            <a:rPr lang="en-US" altLang="en-US" sz="12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  <a:sym typeface="+mn-ea"/>
                            </a:rPr>
                            <m:t>𝑥</m:t>
                          </m:r>
                          <m:r>
                            <a:rPr lang="en-US" altLang="en-US" sz="12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  <a:sym typeface="+mn-ea"/>
                            </a:rPr>
                            <m:t>−</m:t>
                          </m:r>
                          <m:r>
                            <a:rPr lang="en-US" altLang="en-US" sz="12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  <a:sym typeface="+mn-ea"/>
                            </a:rPr>
                            <m:t>𝜇</m:t>
                          </m:r>
                        </m:num>
                        <m:den>
                          <m:r>
                            <a:rPr lang="en-US" altLang="en-US" sz="12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  <a:sym typeface="+mn-ea"/>
                            </a:rPr>
                            <m:t>𝜎</m:t>
                          </m:r>
                        </m:den>
                      </m:f>
                      <m:r>
                        <a:rPr lang="en-US" altLang="en-US" sz="1200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  <a:sym typeface="+mn-ea"/>
                        </a:rPr>
                        <m:t>) − </m:t>
                      </m:r>
                      <m:r>
                        <a:rPr lang="en-US" altLang="en-US" sz="1200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  <a:sym typeface="+mn-ea"/>
                        </a:rPr>
                        <m:t>𝑒𝑥𝑝</m:t>
                      </m:r>
                      <m:r>
                        <a:rPr lang="en-US" altLang="en-US" sz="1200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  <a:sym typeface="+mn-ea"/>
                        </a:rPr>
                        <m:t>(−</m:t>
                      </m:r>
                      <m:f>
                        <m:fPr>
                          <m:ctrlPr>
                            <a:rPr lang="en-US" alt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mbria Math" panose="02040503050406030204" charset="0"/>
                              <a:sym typeface="+mn-ea"/>
                            </a:rPr>
                          </m:ctrlPr>
                        </m:fPr>
                        <m:num>
                          <m:r>
                            <a:rPr lang="en-US" altLang="en-US" sz="12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  <a:sym typeface="+mn-ea"/>
                            </a:rPr>
                            <m:t>𝑥</m:t>
                          </m:r>
                          <m:r>
                            <a:rPr lang="en-US" altLang="en-US" sz="12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  <a:sym typeface="+mn-ea"/>
                            </a:rPr>
                            <m:t>−</m:t>
                          </m:r>
                          <m:r>
                            <a:rPr lang="en-US" altLang="en-US" sz="12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  <a:sym typeface="+mn-ea"/>
                            </a:rPr>
                            <m:t>𝜇</m:t>
                          </m:r>
                        </m:num>
                        <m:den>
                          <m:r>
                            <a:rPr lang="en-US" altLang="en-US" sz="12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  <a:sym typeface="+mn-ea"/>
                            </a:rPr>
                            <m:t>𝜎</m:t>
                          </m:r>
                        </m:den>
                      </m:f>
                      <m:r>
                        <a:rPr lang="en-US" altLang="en-US" sz="1200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  <a:sym typeface="+mn-ea"/>
                        </a:rPr>
                        <m:t>)], −∞&lt;</m:t>
                      </m:r>
                      <m:r>
                        <a:rPr lang="en-US" altLang="en-US" sz="1200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  <a:sym typeface="+mn-ea"/>
                        </a:rPr>
                        <m:t>𝑥</m:t>
                      </m:r>
                      <m:r>
                        <a:rPr lang="en-US" altLang="en-US" sz="1200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  <a:sym typeface="+mn-ea"/>
                        </a:rPr>
                        <m:t>&lt;∞</m:t>
                      </m:r>
                    </m:oMath>
                  </m:oMathPara>
                </a14:m>
                <a:endParaRPr lang="en-US" altLang="en-US" sz="1200" i="1" dirty="0">
                  <a:solidFill>
                    <a:schemeClr val="tx1"/>
                  </a:solidFill>
                  <a:latin typeface="Cambria Math" panose="02040503050406030204" charset="0"/>
                  <a:cs typeface="Cambria Math" panose="02040503050406030204" charset="0"/>
                  <a:sym typeface="+mn-ea"/>
                </a:endParaRPr>
              </a:p>
              <a:p>
                <a:pPr lvl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tx1"/>
                  </a:buClr>
                </a:pPr>
                <a:r>
                  <a:rPr lang="en-IN" altLang="en-US" sz="1200" dirty="0">
                    <a:solidFill>
                      <a:schemeClr val="tx1"/>
                    </a:solidFill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                                                                                            </a:t>
                </a:r>
                <a14:m>
                  <m:oMath xmlns:m="http://schemas.openxmlformats.org/officeDocument/2006/math">
                    <m:r>
                      <a:rPr lang="en-US" altLang="en-US" sz="1200" i="1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;−∞&lt;</m:t>
                    </m:r>
                    <m:r>
                      <a:rPr lang="en-US" altLang="en-US" sz="1200" i="1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𝜇</m:t>
                    </m:r>
                    <m:r>
                      <a:rPr lang="en-US" altLang="en-US" sz="1200" i="1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&lt;∞, </m:t>
                    </m:r>
                    <m:r>
                      <a:rPr lang="en-US" altLang="en-US" sz="1200" i="1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𝜎</m:t>
                    </m:r>
                    <m:r>
                      <a:rPr lang="en-US" altLang="en-US" sz="1200" i="1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&gt;0</m:t>
                    </m:r>
                  </m:oMath>
                </a14:m>
                <a:endParaRPr lang="en-US" altLang="en-US" sz="1200" dirty="0">
                  <a:solidFill>
                    <a:schemeClr val="tx1"/>
                  </a:solidFill>
                  <a:sym typeface="+mn-ea"/>
                </a:endParaRPr>
              </a:p>
              <a:p>
                <a:pPr lvl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tx1"/>
                  </a:buClr>
                </a:pPr>
                <a:endParaRPr lang="en-US" altLang="en-US" sz="1200" dirty="0">
                  <a:solidFill>
                    <a:schemeClr val="tx1"/>
                  </a:solidFill>
                  <a:sym typeface="+mn-ea"/>
                </a:endParaRPr>
              </a:p>
              <a:p>
                <a:pPr marL="171450" lvl="0" indent="-17145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r>
                  <a:rPr lang="en-IN" altLang="en-US" sz="1200" b="1" dirty="0">
                    <a:solidFill>
                      <a:schemeClr val="tx1"/>
                    </a:solidFill>
                  </a:rPr>
                  <a:t>Hypothesis</a:t>
                </a:r>
                <a:r>
                  <a:rPr lang="en-IN" altLang="en-US" sz="1200" dirty="0">
                    <a:solidFill>
                      <a:schemeClr val="tx1"/>
                    </a:solidFill>
                  </a:rPr>
                  <a:t>:</a:t>
                </a:r>
              </a:p>
              <a:p>
                <a:pPr marL="628650" lvl="1" indent="-17145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r>
                  <a:rPr lang="en-US" altLang="en-US" sz="1200" b="1" dirty="0">
                    <a:solidFill>
                      <a:schemeClr val="tx1"/>
                    </a:solidFill>
                  </a:rPr>
                  <a:t>H</a:t>
                </a:r>
                <a:r>
                  <a:rPr lang="en-US" altLang="en-US" sz="1200" b="1" baseline="-25000" dirty="0">
                    <a:solidFill>
                      <a:schemeClr val="tx1"/>
                    </a:solidFill>
                  </a:rPr>
                  <a:t>0</a:t>
                </a:r>
                <a:r>
                  <a:rPr lang="en-US" altLang="en-US" sz="1200" dirty="0">
                    <a:solidFill>
                      <a:schemeClr val="tx1"/>
                    </a:solidFill>
                  </a:rPr>
                  <a:t>: Minimum RH values follow a Gumbel distribution.</a:t>
                </a:r>
              </a:p>
              <a:p>
                <a:pPr marL="628650" lvl="1" indent="-17145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r>
                  <a:rPr lang="en-US" altLang="en-US" sz="1200" b="1" dirty="0">
                    <a:solidFill>
                      <a:schemeClr val="tx1"/>
                    </a:solidFill>
                  </a:rPr>
                  <a:t>H</a:t>
                </a:r>
                <a:r>
                  <a:rPr lang="en-US" altLang="en-US" sz="1200" b="1" baseline="-25000" dirty="0">
                    <a:solidFill>
                      <a:schemeClr val="tx1"/>
                    </a:solidFill>
                  </a:rPr>
                  <a:t>1</a:t>
                </a:r>
                <a:r>
                  <a:rPr lang="en-US" altLang="en-US" sz="1200" dirty="0">
                    <a:solidFill>
                      <a:schemeClr val="tx1"/>
                    </a:solidFill>
                  </a:rPr>
                  <a:t>: Minimum RH values do not follow a Gumbel distribution</a:t>
                </a:r>
              </a:p>
              <a:p>
                <a:pPr marL="171450" lvl="0" indent="-17145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r>
                  <a:rPr lang="en-US" altLang="en-US" sz="1200" b="1" dirty="0">
                    <a:solidFill>
                      <a:schemeClr val="tx1"/>
                    </a:solidFill>
                  </a:rPr>
                  <a:t>Conclusion</a:t>
                </a:r>
                <a:r>
                  <a:rPr lang="en-US" altLang="en-US" sz="1200" dirty="0">
                    <a:solidFill>
                      <a:schemeClr val="tx1"/>
                    </a:solidFill>
                  </a:rPr>
                  <a:t>: Monthly minimum RH follows Gumbel distribution (p = 0.596), appropriate for extreme value analysis.</a:t>
                </a:r>
              </a:p>
              <a:p>
                <a:pPr marL="171450" lvl="0" indent="-17145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endParaRPr lang="en-US" altLang="en-US" sz="1200" dirty="0">
                  <a:solidFill>
                    <a:schemeClr val="tx1"/>
                  </a:solidFill>
                </a:endParaRPr>
              </a:p>
              <a:p>
                <a:pPr marL="171450" lvl="0" indent="-17145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endParaRPr lang="en-US" altLang="en-US" sz="1200" dirty="0">
                  <a:solidFill>
                    <a:schemeClr val="tx1"/>
                  </a:solidFill>
                </a:endParaRPr>
              </a:p>
              <a:p>
                <a:pPr marL="171450" lvl="0" indent="-17145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r>
                  <a:rPr lang="en-IN" altLang="en-US" sz="1200" b="1" dirty="0">
                    <a:solidFill>
                      <a:schemeClr val="tx1"/>
                    </a:solidFill>
                  </a:rPr>
                  <a:t>Hypothesis</a:t>
                </a:r>
                <a:r>
                  <a:rPr lang="en-IN" altLang="en-US" sz="1200" dirty="0">
                    <a:solidFill>
                      <a:schemeClr val="tx1"/>
                    </a:solidFill>
                  </a:rPr>
                  <a:t>:</a:t>
                </a:r>
              </a:p>
              <a:p>
                <a:pPr marL="628650" lvl="1" indent="-17145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r>
                  <a:rPr lang="en-IN" altLang="en-US" sz="1200" b="1" dirty="0">
                    <a:solidFill>
                      <a:schemeClr val="tx1"/>
                    </a:solidFill>
                  </a:rPr>
                  <a:t>H</a:t>
                </a:r>
                <a:r>
                  <a:rPr lang="en-IN" altLang="en-US" sz="1200" b="1" baseline="-25000" dirty="0">
                    <a:solidFill>
                      <a:schemeClr val="tx1"/>
                    </a:solidFill>
                  </a:rPr>
                  <a:t>0</a:t>
                </a:r>
                <a:r>
                  <a:rPr lang="en-IN" altLang="en-US" sz="1200" dirty="0">
                    <a:solidFill>
                      <a:schemeClr val="tx1"/>
                    </a:solidFill>
                  </a:rPr>
                  <a:t>: </a:t>
                </a:r>
                <a:r>
                  <a:rPr lang="en-US" altLang="en-US" sz="1200" dirty="0">
                    <a:solidFill>
                      <a:schemeClr val="tx1"/>
                    </a:solidFill>
                  </a:rPr>
                  <a:t>Maximum burnt areas follow a Gumbel distribution</a:t>
                </a:r>
              </a:p>
              <a:p>
                <a:pPr marL="628650" lvl="1" indent="-17145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r>
                  <a:rPr lang="en-US" altLang="en-US" sz="1200" b="1" dirty="0">
                    <a:solidFill>
                      <a:schemeClr val="tx1"/>
                    </a:solidFill>
                  </a:rPr>
                  <a:t>H</a:t>
                </a:r>
                <a:r>
                  <a:rPr lang="en-US" altLang="en-US" sz="1200" b="1" baseline="-25000" dirty="0">
                    <a:solidFill>
                      <a:schemeClr val="tx1"/>
                    </a:solidFill>
                  </a:rPr>
                  <a:t>1</a:t>
                </a:r>
                <a:r>
                  <a:rPr lang="en-US" altLang="en-US" sz="1200" dirty="0">
                    <a:solidFill>
                      <a:schemeClr val="tx1"/>
                    </a:solidFill>
                  </a:rPr>
                  <a:t>: Maximum burnt areas do not follow a Gumbel distribution</a:t>
                </a:r>
              </a:p>
              <a:p>
                <a:pPr marL="171450" lvl="0" indent="-17145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r>
                  <a:rPr lang="en-US" altLang="en-US" sz="1200" b="1" dirty="0">
                    <a:solidFill>
                      <a:schemeClr val="tx1"/>
                    </a:solidFill>
                  </a:rPr>
                  <a:t>Conclusion</a:t>
                </a:r>
                <a:r>
                  <a:rPr lang="en-US" altLang="en-US" sz="1200" dirty="0">
                    <a:solidFill>
                      <a:schemeClr val="tx1"/>
                    </a:solidFill>
                  </a:rPr>
                  <a:t>: Monthly maximum burned area marginally rejects Gumbel fit (p =</a:t>
                </a:r>
                <a:r>
                  <a:rPr lang="en-IN" altLang="en-US" sz="1200" dirty="0">
                    <a:solidFill>
                      <a:schemeClr val="tx1"/>
                    </a:solidFill>
                  </a:rPr>
                  <a:t> </a:t>
                </a:r>
                <a:r>
                  <a:rPr lang="en-US" altLang="en-US" sz="1200" dirty="0">
                    <a:solidFill>
                      <a:schemeClr val="tx1"/>
                    </a:solidFill>
                  </a:rPr>
                  <a:t>0.043)</a:t>
                </a:r>
              </a:p>
            </p:txBody>
          </p:sp>
        </mc:Choice>
        <mc:Fallback>
          <p:sp>
            <p:nvSpPr>
              <p:cNvPr id="3" name="Google Shape;207;p29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107315" y="772160"/>
                <a:ext cx="4994910" cy="39725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2090" y="195580"/>
            <a:ext cx="3728085" cy="250761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92090" y="2860040"/>
            <a:ext cx="3710940" cy="20802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30" title="wildfire-its-consequences-nature (1).jpg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/>
          <a:srcRect t="43750"/>
          <a:stretch>
            <a:fillRect/>
          </a:stretch>
        </p:blipFill>
        <p:spPr>
          <a:xfrm flipH="1">
            <a:off x="0" y="0"/>
            <a:ext cx="9144003" cy="5143501"/>
          </a:xfrm>
          <a:prstGeom prst="rect">
            <a:avLst/>
          </a:prstGeom>
        </p:spPr>
      </p:pic>
      <p:sp>
        <p:nvSpPr>
          <p:cNvPr id="214" name="Google Shape;214;p30"/>
          <p:cNvSpPr/>
          <p:nvPr/>
        </p:nvSpPr>
        <p:spPr>
          <a:xfrm flipH="1">
            <a:off x="0" y="108585"/>
            <a:ext cx="4768215" cy="4511675"/>
          </a:xfrm>
          <a:prstGeom prst="rect">
            <a:avLst/>
          </a:prstGeom>
          <a:solidFill>
            <a:srgbClr val="453937">
              <a:alpha val="54000"/>
            </a:srgbClr>
          </a:solidFill>
          <a:ln>
            <a:noFill/>
          </a:ln>
          <a:effectLst>
            <a:outerShdw blurRad="214313" dist="142875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ind" panose="02000000000000000000"/>
              <a:ea typeface="Hind" panose="02000000000000000000"/>
              <a:cs typeface="Hind" panose="02000000000000000000"/>
              <a:sym typeface="Hind" panose="02000000000000000000"/>
            </a:endParaRPr>
          </a:p>
        </p:txBody>
      </p:sp>
      <p:sp>
        <p:nvSpPr>
          <p:cNvPr id="215" name="Google Shape;215;p30"/>
          <p:cNvSpPr txBox="1">
            <a:spLocks noGrp="1"/>
          </p:cNvSpPr>
          <p:nvPr>
            <p:ph type="title"/>
          </p:nvPr>
        </p:nvSpPr>
        <p:spPr>
          <a:xfrm flipH="1">
            <a:off x="107315" y="267970"/>
            <a:ext cx="4411345" cy="114109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altLang="en-GB" i="1"/>
              <a:t>Two-Sample Non-Parametric Tests</a:t>
            </a:r>
          </a:p>
        </p:txBody>
      </p:sp>
      <p:cxnSp>
        <p:nvCxnSpPr>
          <p:cNvPr id="217" name="Google Shape;217;p30"/>
          <p:cNvCxnSpPr/>
          <p:nvPr/>
        </p:nvCxnSpPr>
        <p:spPr>
          <a:xfrm flipH="1">
            <a:off x="179645" y="1409140"/>
            <a:ext cx="3331210" cy="10795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7" name="Google Shape;207;p29"/>
          <p:cNvSpPr txBox="1">
            <a:spLocks noGrp="1"/>
          </p:cNvSpPr>
          <p:nvPr>
            <p:ph type="subTitle" idx="1"/>
          </p:nvPr>
        </p:nvSpPr>
        <p:spPr>
          <a:xfrm>
            <a:off x="107950" y="1707515"/>
            <a:ext cx="4920615" cy="237680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altLang="en-US" sz="1600" b="1" dirty="0">
                <a:solidFill>
                  <a:schemeClr val="tx1"/>
                </a:solidFill>
              </a:rPr>
              <a:t>Wilcoxon Rank-Sum Test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IN" altLang="en-US" sz="1600" b="1" dirty="0">
              <a:solidFill>
                <a:schemeClr val="tx1"/>
              </a:solidFill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altLang="en-US" sz="1600" b="1" dirty="0">
                <a:solidFill>
                  <a:schemeClr val="tx1"/>
                </a:solidFill>
              </a:rPr>
              <a:t>Mood’s Test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IN" altLang="en-US" sz="1600" b="1" dirty="0">
              <a:solidFill>
                <a:schemeClr val="tx1"/>
              </a:solidFill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altLang="en-US" sz="1600" b="1" dirty="0">
                <a:solidFill>
                  <a:schemeClr val="tx1"/>
                </a:solidFill>
              </a:rPr>
              <a:t>Kolmogorov-Smirnov Test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IN" altLang="en-US" sz="1600" b="1" dirty="0">
              <a:solidFill>
                <a:schemeClr val="tx1"/>
              </a:solidFill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altLang="en-US" sz="1600" b="1" dirty="0">
                <a:solidFill>
                  <a:schemeClr val="tx1"/>
                </a:solidFill>
              </a:rPr>
              <a:t>Spearman Correlation Test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IN" altLang="en-US" sz="1600" b="1" dirty="0">
              <a:solidFill>
                <a:schemeClr val="tx1"/>
              </a:solidFill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altLang="en-US" sz="1600" b="1" dirty="0">
                <a:solidFill>
                  <a:schemeClr val="tx1"/>
                </a:solidFill>
              </a:rPr>
              <a:t>Kruskal-Wallis Test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7"/>
          <p:cNvSpPr txBox="1">
            <a:spLocks noGrp="1"/>
          </p:cNvSpPr>
          <p:nvPr>
            <p:ph type="title"/>
          </p:nvPr>
        </p:nvSpPr>
        <p:spPr>
          <a:xfrm>
            <a:off x="251460" y="195580"/>
            <a:ext cx="868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i="1"/>
              <a:t>Wilcoxon Rank-Sum Test</a:t>
            </a:r>
          </a:p>
        </p:txBody>
      </p:sp>
      <p:cxnSp>
        <p:nvCxnSpPr>
          <p:cNvPr id="311" name="Google Shape;311;p37"/>
          <p:cNvCxnSpPr/>
          <p:nvPr/>
        </p:nvCxnSpPr>
        <p:spPr>
          <a:xfrm>
            <a:off x="304800" y="699065"/>
            <a:ext cx="40513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07;p29"/>
          <p:cNvSpPr txBox="1">
            <a:spLocks noGrp="1"/>
          </p:cNvSpPr>
          <p:nvPr>
            <p:ph type="subTitle" idx="1"/>
          </p:nvPr>
        </p:nvSpPr>
        <p:spPr>
          <a:xfrm>
            <a:off x="107315" y="772160"/>
            <a:ext cx="4994910" cy="382433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1200" b="1" dirty="0">
                <a:solidFill>
                  <a:schemeClr val="tx1"/>
                </a:solidFill>
                <a:sym typeface="+mn-ea"/>
              </a:rPr>
              <a:t>Objective</a:t>
            </a:r>
            <a:r>
              <a:rPr lang="en-US" altLang="en-US" sz="1200" dirty="0">
                <a:solidFill>
                  <a:schemeClr val="tx1"/>
                </a:solidFill>
                <a:sym typeface="+mn-ea"/>
              </a:rPr>
              <a:t>: To tests whether the median values of two</a:t>
            </a:r>
            <a:r>
              <a:rPr lang="en-IN" altLang="en-US" sz="1200" dirty="0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en-US" sz="1200" dirty="0">
                <a:solidFill>
                  <a:schemeClr val="tx1"/>
                </a:solidFill>
                <a:sym typeface="+mn-ea"/>
              </a:rPr>
              <a:t>groups differ, without assuming normality</a:t>
            </a:r>
            <a:r>
              <a:rPr lang="en-IN" altLang="en-US" sz="1200" dirty="0">
                <a:solidFill>
                  <a:schemeClr val="tx1"/>
                </a:solidFill>
                <a:sym typeface="+mn-ea"/>
              </a:rPr>
              <a:t>. </a:t>
            </a:r>
            <a:r>
              <a:rPr lang="en-US" altLang="en-US" sz="1200" dirty="0">
                <a:solidFill>
                  <a:schemeClr val="tx1"/>
                </a:solidFill>
                <a:sym typeface="+mn-ea"/>
              </a:rPr>
              <a:t>A significant result indicates differences in median weather conditions, revealing which variables drive fire likelihood and intensity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altLang="en-US" sz="1200" dirty="0">
              <a:solidFill>
                <a:schemeClr val="tx1"/>
              </a:solidFill>
              <a:sym typeface="+mn-ea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altLang="en-US" sz="1200" dirty="0">
              <a:solidFill>
                <a:schemeClr val="tx1"/>
              </a:solidFill>
              <a:sym typeface="+mn-ea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altLang="en-US" sz="1200" b="1" dirty="0">
                <a:solidFill>
                  <a:schemeClr val="tx1"/>
                </a:solidFill>
              </a:rPr>
              <a:t>Hypothesis</a:t>
            </a:r>
            <a:r>
              <a:rPr lang="en-IN" altLang="en-US" sz="1200" dirty="0">
                <a:solidFill>
                  <a:schemeClr val="tx1"/>
                </a:solidFill>
              </a:rPr>
              <a:t>:</a:t>
            </a:r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1200" b="1" dirty="0">
                <a:solidFill>
                  <a:schemeClr val="tx1"/>
                </a:solidFill>
              </a:rPr>
              <a:t>H</a:t>
            </a:r>
            <a:r>
              <a:rPr lang="en-US" altLang="en-US" sz="1200" b="1" baseline="-25000" dirty="0">
                <a:solidFill>
                  <a:schemeClr val="tx1"/>
                </a:solidFill>
              </a:rPr>
              <a:t>0</a:t>
            </a:r>
            <a:r>
              <a:rPr lang="en-US" altLang="en-US" sz="1200" dirty="0">
                <a:solidFill>
                  <a:schemeClr val="tx1"/>
                </a:solidFill>
              </a:rPr>
              <a:t>: Median temperature is equal for days with and without burned area</a:t>
            </a:r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1200" b="1" dirty="0">
                <a:solidFill>
                  <a:schemeClr val="tx1"/>
                </a:solidFill>
              </a:rPr>
              <a:t>H</a:t>
            </a:r>
            <a:r>
              <a:rPr lang="en-US" altLang="en-US" sz="1200" b="1" baseline="-25000" dirty="0">
                <a:solidFill>
                  <a:schemeClr val="tx1"/>
                </a:solidFill>
              </a:rPr>
              <a:t>1</a:t>
            </a:r>
            <a:r>
              <a:rPr lang="en-US" altLang="en-US" sz="1200" dirty="0">
                <a:solidFill>
                  <a:schemeClr val="tx1"/>
                </a:solidFill>
              </a:rPr>
              <a:t>: Median temperature is higher on days with burned area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1200" b="1" dirty="0">
                <a:solidFill>
                  <a:schemeClr val="tx1"/>
                </a:solidFill>
              </a:rPr>
              <a:t>Conclusion</a:t>
            </a:r>
            <a:r>
              <a:rPr lang="en-US" altLang="en-US" sz="1200" dirty="0">
                <a:solidFill>
                  <a:schemeClr val="tx1"/>
                </a:solidFill>
              </a:rPr>
              <a:t>: Days with burned area have significantly higher median temperatures</a:t>
            </a:r>
            <a:r>
              <a:rPr lang="en-IN" altLang="en-US" sz="1200" dirty="0">
                <a:solidFill>
                  <a:schemeClr val="tx1"/>
                </a:solidFill>
              </a:rPr>
              <a:t> </a:t>
            </a:r>
            <a:r>
              <a:rPr lang="en-US" altLang="en-US" sz="1200" dirty="0">
                <a:solidFill>
                  <a:schemeClr val="tx1"/>
                </a:solidFill>
              </a:rPr>
              <a:t>(p = 0.007), confirming temperature’s role in fire risk.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altLang="en-US" sz="1200" dirty="0">
              <a:solidFill>
                <a:schemeClr val="tx1"/>
              </a:solidFill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altLang="en-US" sz="1200" dirty="0">
              <a:solidFill>
                <a:schemeClr val="tx1"/>
              </a:solidFill>
            </a:endParaRPr>
          </a:p>
          <a:p>
            <a:pPr marL="171450" lvl="0" indent="-1714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altLang="en-US" sz="1200" b="1" dirty="0">
                <a:solidFill>
                  <a:schemeClr val="tx1"/>
                </a:solidFill>
              </a:rPr>
              <a:t>Hypothesis</a:t>
            </a:r>
            <a:r>
              <a:rPr lang="en-IN" altLang="en-US" sz="1200" dirty="0">
                <a:solidFill>
                  <a:schemeClr val="tx1"/>
                </a:solidFill>
              </a:rPr>
              <a:t>:</a:t>
            </a:r>
          </a:p>
          <a:p>
            <a:pPr marL="628650" lvl="1" indent="-1714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1200" b="1" dirty="0">
                <a:solidFill>
                  <a:schemeClr val="tx1"/>
                </a:solidFill>
              </a:rPr>
              <a:t>H</a:t>
            </a:r>
            <a:r>
              <a:rPr lang="en-US" altLang="en-US" sz="1200" b="1" baseline="-25000" dirty="0">
                <a:solidFill>
                  <a:schemeClr val="tx1"/>
                </a:solidFill>
              </a:rPr>
              <a:t>0</a:t>
            </a:r>
            <a:r>
              <a:rPr lang="en-US" altLang="en-US" sz="1200" dirty="0">
                <a:solidFill>
                  <a:schemeClr val="tx1"/>
                </a:solidFill>
              </a:rPr>
              <a:t>: Median wind in August &lt;= September</a:t>
            </a:r>
          </a:p>
          <a:p>
            <a:pPr marL="628650" lvl="1" indent="-1714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1200" b="1" dirty="0">
                <a:solidFill>
                  <a:schemeClr val="tx1"/>
                </a:solidFill>
              </a:rPr>
              <a:t>H</a:t>
            </a:r>
            <a:r>
              <a:rPr lang="en-US" altLang="en-US" sz="1200" b="1" baseline="-25000" dirty="0">
                <a:solidFill>
                  <a:schemeClr val="tx1"/>
                </a:solidFill>
              </a:rPr>
              <a:t>1</a:t>
            </a:r>
            <a:r>
              <a:rPr lang="en-US" altLang="en-US" sz="1200" dirty="0">
                <a:solidFill>
                  <a:schemeClr val="tx1"/>
                </a:solidFill>
              </a:rPr>
              <a:t>: Median wind in August &gt; September</a:t>
            </a:r>
          </a:p>
          <a:p>
            <a:pPr marL="171450" lvl="0" indent="-1714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1200" b="1" dirty="0">
                <a:solidFill>
                  <a:schemeClr val="tx1"/>
                </a:solidFill>
              </a:rPr>
              <a:t>Conclusion</a:t>
            </a:r>
            <a:r>
              <a:rPr lang="en-US" altLang="en-US" sz="1200" dirty="0">
                <a:solidFill>
                  <a:schemeClr val="tx1"/>
                </a:solidFill>
              </a:rPr>
              <a:t>: August has stronger winds (p &lt; 0.001), increasing fire spread potential</a:t>
            </a:r>
            <a:r>
              <a:rPr lang="en-IN" altLang="en-US" sz="1200" dirty="0">
                <a:solidFill>
                  <a:schemeClr val="tx1"/>
                </a:solidFill>
              </a:rPr>
              <a:t> </a:t>
            </a:r>
            <a:r>
              <a:rPr lang="en-US" altLang="en-US" sz="1200" dirty="0">
                <a:solidFill>
                  <a:schemeClr val="tx1"/>
                </a:solidFill>
              </a:rPr>
              <a:t>despite lower drought.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3085" y="96520"/>
            <a:ext cx="3180080" cy="2350135"/>
          </a:xfrm>
          <a:prstGeom prst="rect">
            <a:avLst/>
          </a:prstGeom>
        </p:spPr>
      </p:pic>
      <p:pic>
        <p:nvPicPr>
          <p:cNvPr id="5" name="Picture 0">
            <a:extLst>
              <a:ext uri="{FF2B5EF4-FFF2-40B4-BE49-F238E27FC236}">
                <a16:creationId xmlns:a16="http://schemas.microsoft.com/office/drawing/2014/main" id="{461747A8-6B36-82DA-AC6A-870DF28534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3085" y="2545715"/>
            <a:ext cx="3180080" cy="248729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7"/>
          <p:cNvSpPr txBox="1">
            <a:spLocks noGrp="1"/>
          </p:cNvSpPr>
          <p:nvPr>
            <p:ph type="title"/>
          </p:nvPr>
        </p:nvSpPr>
        <p:spPr>
          <a:xfrm>
            <a:off x="251460" y="195580"/>
            <a:ext cx="868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i="1"/>
              <a:t>Mood’s Test</a:t>
            </a:r>
          </a:p>
        </p:txBody>
      </p:sp>
      <p:cxnSp>
        <p:nvCxnSpPr>
          <p:cNvPr id="311" name="Google Shape;311;p37"/>
          <p:cNvCxnSpPr/>
          <p:nvPr/>
        </p:nvCxnSpPr>
        <p:spPr>
          <a:xfrm>
            <a:off x="304800" y="699065"/>
            <a:ext cx="2035175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07;p29"/>
          <p:cNvSpPr txBox="1">
            <a:spLocks noGrp="1"/>
          </p:cNvSpPr>
          <p:nvPr>
            <p:ph type="subTitle" idx="1"/>
          </p:nvPr>
        </p:nvSpPr>
        <p:spPr>
          <a:xfrm>
            <a:off x="107315" y="699065"/>
            <a:ext cx="4994910" cy="464037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 sz="1200" b="1" dirty="0">
              <a:solidFill>
                <a:schemeClr val="tx1"/>
              </a:solidFill>
              <a:sym typeface="+mn-ea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 sz="1200" b="1" dirty="0">
              <a:solidFill>
                <a:schemeClr val="tx1"/>
              </a:solidFill>
              <a:sym typeface="+mn-ea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1200" b="1" dirty="0">
                <a:solidFill>
                  <a:schemeClr val="tx1"/>
                </a:solidFill>
                <a:sym typeface="+mn-ea"/>
              </a:rPr>
              <a:t>Objective</a:t>
            </a:r>
            <a:r>
              <a:rPr lang="en-US" altLang="en-US" sz="1200" dirty="0">
                <a:solidFill>
                  <a:schemeClr val="tx1"/>
                </a:solidFill>
                <a:sym typeface="+mn-ea"/>
              </a:rPr>
              <a:t>: To examine whether two samples differ</a:t>
            </a:r>
            <a:r>
              <a:rPr lang="en-IN" altLang="en-US" sz="1200" dirty="0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en-US" sz="1200" dirty="0">
                <a:solidFill>
                  <a:schemeClr val="tx1"/>
                </a:solidFill>
                <a:sym typeface="+mn-ea"/>
              </a:rPr>
              <a:t>in variance (dispersion) rather than location.</a:t>
            </a:r>
            <a:r>
              <a:rPr lang="en-IN" altLang="en-US" sz="1200" dirty="0">
                <a:solidFill>
                  <a:schemeClr val="tx1"/>
                </a:solidFill>
                <a:sym typeface="+mn-ea"/>
              </a:rPr>
              <a:t> To </a:t>
            </a:r>
            <a:r>
              <a:rPr lang="en-US" altLang="en-US" sz="1200" dirty="0">
                <a:solidFill>
                  <a:schemeClr val="tx1"/>
                </a:solidFill>
                <a:sym typeface="+mn-ea"/>
              </a:rPr>
              <a:t>test if the variability of one variable is</a:t>
            </a:r>
            <a:r>
              <a:rPr lang="en-IN" altLang="en-US" sz="1200" dirty="0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en-US" sz="1200" dirty="0">
                <a:solidFill>
                  <a:schemeClr val="tx1"/>
                </a:solidFill>
                <a:sym typeface="+mn-ea"/>
              </a:rPr>
              <a:t>significantly greater or smaller across two groups.</a:t>
            </a:r>
            <a:r>
              <a:rPr lang="en-IN" altLang="en-US" sz="1200" dirty="0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en-US" sz="1200" dirty="0">
                <a:solidFill>
                  <a:schemeClr val="tx1"/>
                </a:solidFill>
                <a:sym typeface="+mn-ea"/>
              </a:rPr>
              <a:t>In the forest fire dataset, it’s used to</a:t>
            </a:r>
            <a:r>
              <a:rPr lang="en-IN" altLang="en-US" sz="1200" dirty="0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en-US" sz="1200" dirty="0">
                <a:solidFill>
                  <a:schemeClr val="tx1"/>
                </a:solidFill>
                <a:sym typeface="+mn-ea"/>
              </a:rPr>
              <a:t>check whether the variability of indices (like DC, FFMC, ISI) changes between:</a:t>
            </a:r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1200" dirty="0">
                <a:solidFill>
                  <a:schemeClr val="tx1"/>
                </a:solidFill>
                <a:sym typeface="+mn-ea"/>
              </a:rPr>
              <a:t>Fire vs No-Fire days, or</a:t>
            </a:r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1200" dirty="0">
                <a:solidFill>
                  <a:schemeClr val="tx1"/>
                </a:solidFill>
                <a:sym typeface="+mn-ea"/>
              </a:rPr>
              <a:t>August vs September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altLang="en-US" sz="1200" dirty="0">
              <a:solidFill>
                <a:schemeClr val="tx1"/>
              </a:solidFill>
              <a:sym typeface="+mn-ea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altLang="en-US" sz="1200" dirty="0">
              <a:solidFill>
                <a:schemeClr val="tx1"/>
              </a:solidFill>
              <a:sym typeface="+mn-ea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altLang="en-US" sz="1200" b="1" dirty="0">
                <a:solidFill>
                  <a:schemeClr val="tx1"/>
                </a:solidFill>
              </a:rPr>
              <a:t>Hypothesis</a:t>
            </a:r>
            <a:r>
              <a:rPr lang="en-IN" altLang="en-US" sz="1200" dirty="0">
                <a:solidFill>
                  <a:schemeClr val="tx1"/>
                </a:solidFill>
              </a:rPr>
              <a:t>:</a:t>
            </a:r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1200" b="1" dirty="0">
                <a:solidFill>
                  <a:schemeClr val="tx1"/>
                </a:solidFill>
              </a:rPr>
              <a:t>H</a:t>
            </a:r>
            <a:r>
              <a:rPr lang="en-US" altLang="en-US" sz="1200" b="1" baseline="-25000" dirty="0">
                <a:solidFill>
                  <a:schemeClr val="tx1"/>
                </a:solidFill>
              </a:rPr>
              <a:t>0</a:t>
            </a:r>
            <a:r>
              <a:rPr lang="en-US" altLang="en-US" sz="1200" dirty="0">
                <a:solidFill>
                  <a:schemeClr val="tx1"/>
                </a:solidFill>
              </a:rPr>
              <a:t>: Variance of DC (Fire) &gt;= Variance of DC (No Fire)</a:t>
            </a:r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1200" b="1" dirty="0">
                <a:solidFill>
                  <a:schemeClr val="tx1"/>
                </a:solidFill>
              </a:rPr>
              <a:t>H</a:t>
            </a:r>
            <a:r>
              <a:rPr lang="en-US" altLang="en-US" sz="1200" b="1" baseline="-25000" dirty="0">
                <a:solidFill>
                  <a:schemeClr val="tx1"/>
                </a:solidFill>
              </a:rPr>
              <a:t>1</a:t>
            </a:r>
            <a:r>
              <a:rPr lang="en-US" altLang="en-US" sz="1200" dirty="0">
                <a:solidFill>
                  <a:schemeClr val="tx1"/>
                </a:solidFill>
              </a:rPr>
              <a:t>: Variance of DC (Fire) &lt; Variance of DC (No Fire)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1200" b="1" dirty="0">
                <a:solidFill>
                  <a:schemeClr val="tx1"/>
                </a:solidFill>
              </a:rPr>
              <a:t>Conclusion</a:t>
            </a:r>
            <a:r>
              <a:rPr lang="en-US" altLang="en-US" sz="1200" dirty="0">
                <a:solidFill>
                  <a:schemeClr val="tx1"/>
                </a:solidFill>
              </a:rPr>
              <a:t>: DC variability is similar regardless of fire occurrence (p = 0.345); drought</a:t>
            </a:r>
            <a:r>
              <a:rPr lang="en-IN" altLang="en-US" sz="1200" dirty="0">
                <a:solidFill>
                  <a:schemeClr val="tx1"/>
                </a:solidFill>
              </a:rPr>
              <a:t> </a:t>
            </a:r>
            <a:r>
              <a:rPr lang="en-US" altLang="en-US" sz="1200" dirty="0">
                <a:solidFill>
                  <a:schemeClr val="tx1"/>
                </a:solidFill>
              </a:rPr>
              <a:t>level matters more than variability.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altLang="en-US" sz="1200" dirty="0">
              <a:solidFill>
                <a:schemeClr val="tx1"/>
              </a:solidFill>
            </a:endParaRPr>
          </a:p>
          <a:p>
            <a:pPr marL="171450" lvl="0" indent="-1714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altLang="en-US" sz="1200" b="1" dirty="0">
                <a:solidFill>
                  <a:schemeClr val="tx1"/>
                </a:solidFill>
              </a:rPr>
              <a:t>Hypothesis</a:t>
            </a:r>
            <a:r>
              <a:rPr lang="en-IN" altLang="en-US" sz="1200" dirty="0">
                <a:solidFill>
                  <a:schemeClr val="tx1"/>
                </a:solidFill>
              </a:rPr>
              <a:t>:</a:t>
            </a:r>
          </a:p>
          <a:p>
            <a:pPr marL="628650" lvl="1" indent="-1714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1200" b="1" dirty="0">
                <a:solidFill>
                  <a:schemeClr val="tx1"/>
                </a:solidFill>
              </a:rPr>
              <a:t>H</a:t>
            </a:r>
            <a:r>
              <a:rPr lang="en-US" altLang="en-US" sz="1200" b="1" baseline="-25000" dirty="0">
                <a:solidFill>
                  <a:schemeClr val="tx1"/>
                </a:solidFill>
              </a:rPr>
              <a:t>0</a:t>
            </a:r>
            <a:r>
              <a:rPr lang="en-US" altLang="en-US" sz="1200" dirty="0">
                <a:solidFill>
                  <a:schemeClr val="tx1"/>
                </a:solidFill>
              </a:rPr>
              <a:t>: Variance of ISI (August) &lt;= Variance of ISI (September)</a:t>
            </a:r>
          </a:p>
          <a:p>
            <a:pPr marL="628650" lvl="1" indent="-1714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1200" b="1" dirty="0">
                <a:solidFill>
                  <a:schemeClr val="tx1"/>
                </a:solidFill>
              </a:rPr>
              <a:t>H</a:t>
            </a:r>
            <a:r>
              <a:rPr lang="en-US" altLang="en-US" sz="1200" b="1" baseline="-25000" dirty="0">
                <a:solidFill>
                  <a:schemeClr val="tx1"/>
                </a:solidFill>
              </a:rPr>
              <a:t>1</a:t>
            </a:r>
            <a:r>
              <a:rPr lang="en-US" altLang="en-US" sz="1200" dirty="0">
                <a:solidFill>
                  <a:schemeClr val="tx1"/>
                </a:solidFill>
              </a:rPr>
              <a:t>: Variance of ISI (August) &gt; Variance of ISI (September)</a:t>
            </a:r>
          </a:p>
          <a:p>
            <a:pPr marL="171450" lvl="0" indent="-1714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1200" b="1" dirty="0">
                <a:solidFill>
                  <a:schemeClr val="tx1"/>
                </a:solidFill>
              </a:rPr>
              <a:t>Conclusion</a:t>
            </a:r>
            <a:r>
              <a:rPr lang="en-US" altLang="en-US" sz="1200" dirty="0">
                <a:solidFill>
                  <a:schemeClr val="tx1"/>
                </a:solidFill>
              </a:rPr>
              <a:t>: ISI exhibits higher variability in August (p = 0.001), indicating erratic</a:t>
            </a:r>
            <a:r>
              <a:rPr lang="en-IN" altLang="en-US" sz="1200" dirty="0">
                <a:solidFill>
                  <a:schemeClr val="tx1"/>
                </a:solidFill>
              </a:rPr>
              <a:t> </a:t>
            </a:r>
            <a:r>
              <a:rPr lang="en-US" altLang="en-US" sz="1200" dirty="0">
                <a:solidFill>
                  <a:schemeClr val="tx1"/>
                </a:solidFill>
              </a:rPr>
              <a:t>fire spread potential.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altLang="en-US" sz="12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endParaRPr lang="en-US" altLang="en-US" sz="1200" dirty="0">
              <a:solidFill>
                <a:schemeClr val="tx1"/>
              </a:solidFill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 sz="1200" dirty="0"/>
          </a:p>
        </p:txBody>
      </p:sp>
      <p:pic>
        <p:nvPicPr>
          <p:cNvPr id="2" name="Pictur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3113" y="113302"/>
            <a:ext cx="3294017" cy="249157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6847E60-6E8F-3637-4776-C5C8E470F9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3114" y="2741658"/>
            <a:ext cx="3294017" cy="22885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7"/>
          <p:cNvSpPr txBox="1">
            <a:spLocks noGrp="1"/>
          </p:cNvSpPr>
          <p:nvPr>
            <p:ph type="title"/>
          </p:nvPr>
        </p:nvSpPr>
        <p:spPr>
          <a:xfrm>
            <a:off x="251460" y="195580"/>
            <a:ext cx="868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i="1"/>
              <a:t>Two-Sample KS Test</a:t>
            </a:r>
          </a:p>
        </p:txBody>
      </p:sp>
      <p:cxnSp>
        <p:nvCxnSpPr>
          <p:cNvPr id="311" name="Google Shape;311;p37"/>
          <p:cNvCxnSpPr/>
          <p:nvPr/>
        </p:nvCxnSpPr>
        <p:spPr>
          <a:xfrm>
            <a:off x="304800" y="699065"/>
            <a:ext cx="333121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07;p29"/>
          <p:cNvSpPr txBox="1">
            <a:spLocks noGrp="1"/>
          </p:cNvSpPr>
          <p:nvPr>
            <p:ph type="subTitle" idx="1"/>
          </p:nvPr>
        </p:nvSpPr>
        <p:spPr>
          <a:xfrm>
            <a:off x="107315" y="772160"/>
            <a:ext cx="4994910" cy="349123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1200" b="1" dirty="0">
                <a:solidFill>
                  <a:schemeClr val="tx1"/>
                </a:solidFill>
                <a:sym typeface="+mn-ea"/>
              </a:rPr>
              <a:t>Objective</a:t>
            </a:r>
            <a:r>
              <a:rPr lang="en-US" altLang="en-US" sz="1200" dirty="0">
                <a:solidFill>
                  <a:schemeClr val="tx1"/>
                </a:solidFill>
                <a:sym typeface="+mn-ea"/>
              </a:rPr>
              <a:t>: To compares</a:t>
            </a:r>
            <a:r>
              <a:rPr lang="en-IN" altLang="en-US" sz="1200" dirty="0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en-US" sz="1200" dirty="0">
                <a:solidFill>
                  <a:schemeClr val="tx1"/>
                </a:solidFill>
                <a:sym typeface="+mn-ea"/>
              </a:rPr>
              <a:t>the entire distributions of two samples to assess if they come from the same population.</a:t>
            </a:r>
            <a:r>
              <a:rPr lang="en-IN" altLang="en-US" sz="1200" dirty="0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en-US" sz="1200" dirty="0">
                <a:solidFill>
                  <a:schemeClr val="tx1"/>
                </a:solidFill>
                <a:sym typeface="+mn-ea"/>
              </a:rPr>
              <a:t>K–S</a:t>
            </a:r>
            <a:r>
              <a:rPr lang="en-IN" altLang="en-US" sz="1200" dirty="0">
                <a:solidFill>
                  <a:schemeClr val="tx1"/>
                </a:solidFill>
                <a:sym typeface="+mn-ea"/>
              </a:rPr>
              <a:t> Test</a:t>
            </a:r>
            <a:r>
              <a:rPr lang="en-US" altLang="en-US" sz="1200" dirty="0">
                <a:solidFill>
                  <a:schemeClr val="tx1"/>
                </a:solidFill>
                <a:sym typeface="+mn-ea"/>
              </a:rPr>
              <a:t> detects any</a:t>
            </a:r>
            <a:r>
              <a:rPr lang="en-IN" altLang="en-US" sz="1200" dirty="0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en-US" sz="1200" dirty="0">
                <a:solidFill>
                  <a:schemeClr val="tx1"/>
                </a:solidFill>
                <a:sym typeface="+mn-ea"/>
              </a:rPr>
              <a:t>distributional difference (shape, spread, skewness, etc.)</a:t>
            </a:r>
            <a:r>
              <a:rPr lang="en-IN" altLang="en-US" sz="1200" dirty="0">
                <a:solidFill>
                  <a:schemeClr val="tx1"/>
                </a:solidFill>
                <a:sym typeface="+mn-ea"/>
              </a:rPr>
              <a:t> as well</a:t>
            </a:r>
            <a:r>
              <a:rPr lang="en-US" altLang="en-US" sz="1200" dirty="0">
                <a:solidFill>
                  <a:schemeClr val="tx1"/>
                </a:solidFill>
                <a:sym typeface="+mn-ea"/>
              </a:rPr>
              <a:t>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altLang="en-US" sz="1200" dirty="0">
              <a:solidFill>
                <a:schemeClr val="tx1"/>
              </a:solidFill>
              <a:sym typeface="+mn-ea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altLang="en-US" sz="1200" b="1" dirty="0">
                <a:solidFill>
                  <a:schemeClr val="tx1"/>
                </a:solidFill>
              </a:rPr>
              <a:t>Hypothesis for FFMC(</a:t>
            </a:r>
            <a:r>
              <a:rPr lang="en-US" altLang="en-US" sz="1200" b="1" dirty="0">
                <a:solidFill>
                  <a:schemeClr val="tx1"/>
                </a:solidFill>
              </a:rPr>
              <a:t>Fire vs No Fire</a:t>
            </a:r>
            <a:r>
              <a:rPr lang="en-IN" altLang="en-US" sz="1200" b="1" dirty="0">
                <a:solidFill>
                  <a:schemeClr val="tx1"/>
                </a:solidFill>
              </a:rPr>
              <a:t>)</a:t>
            </a:r>
            <a:r>
              <a:rPr lang="en-IN" altLang="en-US" sz="1200" dirty="0">
                <a:solidFill>
                  <a:schemeClr val="tx1"/>
                </a:solidFill>
              </a:rPr>
              <a:t>:</a:t>
            </a:r>
            <a:endParaRPr lang="en-US" altLang="en-US" sz="1200" dirty="0">
              <a:solidFill>
                <a:schemeClr val="tx1"/>
              </a:solidFill>
            </a:endParaRPr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1200" b="1" dirty="0">
                <a:solidFill>
                  <a:schemeClr val="tx1"/>
                </a:solidFill>
              </a:rPr>
              <a:t>H</a:t>
            </a:r>
            <a:r>
              <a:rPr lang="en-US" altLang="en-US" sz="1200" b="1" baseline="-25000" dirty="0">
                <a:solidFill>
                  <a:schemeClr val="tx1"/>
                </a:solidFill>
              </a:rPr>
              <a:t>0</a:t>
            </a:r>
            <a:r>
              <a:rPr lang="en-US" altLang="en-US" sz="1200" dirty="0">
                <a:solidFill>
                  <a:schemeClr val="tx1"/>
                </a:solidFill>
              </a:rPr>
              <a:t>: FFMC distributions are identical</a:t>
            </a:r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1200" b="1" dirty="0">
                <a:solidFill>
                  <a:schemeClr val="tx1"/>
                </a:solidFill>
              </a:rPr>
              <a:t>H</a:t>
            </a:r>
            <a:r>
              <a:rPr lang="en-US" altLang="en-US" sz="1200" b="1" baseline="-25000" dirty="0">
                <a:solidFill>
                  <a:schemeClr val="tx1"/>
                </a:solidFill>
              </a:rPr>
              <a:t>1</a:t>
            </a:r>
            <a:r>
              <a:rPr lang="en-US" altLang="en-US" sz="1200" dirty="0">
                <a:solidFill>
                  <a:schemeClr val="tx1"/>
                </a:solidFill>
              </a:rPr>
              <a:t>: FFMC distributions differ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1200" b="1" dirty="0">
                <a:solidFill>
                  <a:schemeClr val="tx1"/>
                </a:solidFill>
              </a:rPr>
              <a:t>Conclusion</a:t>
            </a:r>
            <a:r>
              <a:rPr lang="en-US" altLang="en-US" sz="1200" dirty="0">
                <a:solidFill>
                  <a:schemeClr val="tx1"/>
                </a:solidFill>
              </a:rPr>
              <a:t>: FFMC distributions are indistinguishable (p = 0.783); fine fuel moisture</a:t>
            </a:r>
            <a:r>
              <a:rPr lang="en-IN" altLang="en-US" sz="1200" dirty="0">
                <a:solidFill>
                  <a:schemeClr val="tx1"/>
                </a:solidFill>
              </a:rPr>
              <a:t> </a:t>
            </a:r>
            <a:r>
              <a:rPr lang="en-US" altLang="en-US" sz="1200" dirty="0">
                <a:solidFill>
                  <a:schemeClr val="tx1"/>
                </a:solidFill>
              </a:rPr>
              <a:t>alone doesn’t differentiate fire days.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altLang="en-US" sz="1200" dirty="0">
              <a:solidFill>
                <a:schemeClr val="tx1"/>
              </a:solidFill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altLang="en-US" sz="1200" dirty="0">
              <a:solidFill>
                <a:schemeClr val="tx1"/>
              </a:solidFill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altLang="en-US" sz="1200" b="1" dirty="0">
                <a:solidFill>
                  <a:schemeClr val="tx1"/>
                </a:solidFill>
              </a:rPr>
              <a:t>Hypothesis for RH(August vs September)</a:t>
            </a:r>
            <a:r>
              <a:rPr lang="en-IN" altLang="en-US" sz="1200" dirty="0">
                <a:solidFill>
                  <a:schemeClr val="tx1"/>
                </a:solidFill>
              </a:rPr>
              <a:t>:</a:t>
            </a:r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1200" b="1" dirty="0">
                <a:solidFill>
                  <a:schemeClr val="tx1"/>
                </a:solidFill>
              </a:rPr>
              <a:t>H</a:t>
            </a:r>
            <a:r>
              <a:rPr lang="en-US" altLang="en-US" sz="1200" b="1" baseline="-25000" dirty="0">
                <a:solidFill>
                  <a:schemeClr val="tx1"/>
                </a:solidFill>
              </a:rPr>
              <a:t>0</a:t>
            </a:r>
            <a:r>
              <a:rPr lang="en-US" altLang="en-US" sz="1200" dirty="0">
                <a:solidFill>
                  <a:schemeClr val="tx1"/>
                </a:solidFill>
              </a:rPr>
              <a:t>: The distribution of relative humidity is identical in August and September</a:t>
            </a:r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1200" b="1" dirty="0">
                <a:solidFill>
                  <a:schemeClr val="tx1"/>
                </a:solidFill>
              </a:rPr>
              <a:t>H</a:t>
            </a:r>
            <a:r>
              <a:rPr lang="en-US" altLang="en-US" sz="1200" b="1" baseline="-25000" dirty="0">
                <a:solidFill>
                  <a:schemeClr val="tx1"/>
                </a:solidFill>
              </a:rPr>
              <a:t>1</a:t>
            </a:r>
            <a:r>
              <a:rPr lang="en-US" altLang="en-US" sz="1200" dirty="0">
                <a:solidFill>
                  <a:schemeClr val="tx1"/>
                </a:solidFill>
              </a:rPr>
              <a:t>: The distributions differ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1200" b="1" dirty="0">
                <a:solidFill>
                  <a:schemeClr val="tx1"/>
                </a:solidFill>
              </a:rPr>
              <a:t>Conclusion</a:t>
            </a:r>
            <a:r>
              <a:rPr lang="en-US" altLang="en-US" sz="1200" dirty="0">
                <a:solidFill>
                  <a:schemeClr val="tx1"/>
                </a:solidFill>
              </a:rPr>
              <a:t>: RH patterns remain stable between months (p = 0.325)</a:t>
            </a:r>
          </a:p>
        </p:txBody>
      </p:sp>
      <p:pic>
        <p:nvPicPr>
          <p:cNvPr id="2" name="Pictur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8775" y="2571750"/>
            <a:ext cx="3264535" cy="245364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0680" y="139700"/>
            <a:ext cx="3258185" cy="226250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7"/>
          <p:cNvSpPr txBox="1">
            <a:spLocks noGrp="1"/>
          </p:cNvSpPr>
          <p:nvPr>
            <p:ph type="title"/>
          </p:nvPr>
        </p:nvSpPr>
        <p:spPr>
          <a:xfrm>
            <a:off x="251460" y="195580"/>
            <a:ext cx="868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i="1"/>
              <a:t>Spearman’s Correlation Test</a:t>
            </a:r>
          </a:p>
        </p:txBody>
      </p:sp>
      <p:cxnSp>
        <p:nvCxnSpPr>
          <p:cNvPr id="311" name="Google Shape;311;p37"/>
          <p:cNvCxnSpPr/>
          <p:nvPr/>
        </p:nvCxnSpPr>
        <p:spPr>
          <a:xfrm>
            <a:off x="304800" y="699065"/>
            <a:ext cx="4627245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07;p29"/>
          <p:cNvSpPr txBox="1">
            <a:spLocks noGrp="1"/>
          </p:cNvSpPr>
          <p:nvPr>
            <p:ph type="subTitle" idx="1"/>
          </p:nvPr>
        </p:nvSpPr>
        <p:spPr>
          <a:xfrm>
            <a:off x="120967" y="1072585"/>
            <a:ext cx="4994910" cy="262431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altLang="en-US" sz="1200" b="1" dirty="0">
                <a:solidFill>
                  <a:schemeClr val="tx1"/>
                </a:solidFill>
                <a:sym typeface="+mn-ea"/>
              </a:rPr>
              <a:t>Objective</a:t>
            </a:r>
            <a:r>
              <a:rPr lang="en-IN" altLang="en-US" sz="1200" dirty="0">
                <a:solidFill>
                  <a:schemeClr val="tx1"/>
                </a:solidFill>
                <a:sym typeface="+mn-ea"/>
              </a:rPr>
              <a:t>: To </a:t>
            </a:r>
            <a:r>
              <a:rPr lang="en-US" altLang="en-US" sz="1200" dirty="0">
                <a:solidFill>
                  <a:schemeClr val="tx1"/>
                </a:solidFill>
                <a:sym typeface="+mn-ea"/>
              </a:rPr>
              <a:t>measure the strength and direction of a</a:t>
            </a:r>
            <a:r>
              <a:rPr lang="en-IN" altLang="en-US" sz="1200" dirty="0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en-US" sz="1200" dirty="0">
                <a:solidFill>
                  <a:schemeClr val="tx1"/>
                </a:solidFill>
                <a:sym typeface="+mn-ea"/>
              </a:rPr>
              <a:t>monotonic relationship between two continuous variables without assuming normality. In the</a:t>
            </a:r>
            <a:r>
              <a:rPr lang="en-IN" altLang="en-US" sz="1200" dirty="0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en-US" sz="1200" dirty="0">
                <a:solidFill>
                  <a:schemeClr val="tx1"/>
                </a:solidFill>
                <a:sym typeface="+mn-ea"/>
              </a:rPr>
              <a:t>forest fire dataset, it checks if weather variables (FFMC, DMC, DC, ISI, temp, RH, wind,</a:t>
            </a:r>
            <a:r>
              <a:rPr lang="en-IN" altLang="en-US" sz="1200" dirty="0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en-US" sz="1200" dirty="0">
                <a:solidFill>
                  <a:schemeClr val="tx1"/>
                </a:solidFill>
                <a:sym typeface="+mn-ea"/>
              </a:rPr>
              <a:t>rain) are significantly correlated with the burned area (extent of fire). A non-significant</a:t>
            </a:r>
            <a:r>
              <a:rPr lang="en-IN" altLang="en-US" sz="1200" dirty="0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en-US" sz="1200" dirty="0">
                <a:solidFill>
                  <a:schemeClr val="tx1"/>
                </a:solidFill>
                <a:sym typeface="+mn-ea"/>
              </a:rPr>
              <a:t>correlation indicates that no single variable independently explains burned area variation;</a:t>
            </a:r>
            <a:r>
              <a:rPr lang="en-IN" altLang="en-US" sz="1200" dirty="0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en-US" sz="1200" dirty="0">
                <a:solidFill>
                  <a:schemeClr val="tx1"/>
                </a:solidFill>
                <a:sym typeface="+mn-ea"/>
              </a:rPr>
              <a:t>instead, fire behavior is likely influenced by multiple interacting factors.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IN" altLang="en-US" sz="1200" b="1" dirty="0">
              <a:solidFill>
                <a:schemeClr val="tx1"/>
              </a:solidFill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altLang="en-US" sz="1200" b="1" dirty="0">
                <a:solidFill>
                  <a:schemeClr val="tx1"/>
                </a:solidFill>
              </a:rPr>
              <a:t>Hypothesis</a:t>
            </a:r>
            <a:r>
              <a:rPr lang="en-IN" altLang="en-US" sz="1200" dirty="0">
                <a:solidFill>
                  <a:schemeClr val="tx1"/>
                </a:solidFill>
              </a:rPr>
              <a:t>:</a:t>
            </a:r>
            <a:endParaRPr lang="en-US" altLang="en-US" sz="1200" dirty="0">
              <a:solidFill>
                <a:schemeClr val="tx1"/>
              </a:solidFill>
            </a:endParaRPr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1200" b="1" dirty="0">
                <a:solidFill>
                  <a:schemeClr val="tx1"/>
                </a:solidFill>
              </a:rPr>
              <a:t>H</a:t>
            </a:r>
            <a:r>
              <a:rPr lang="en-US" altLang="en-US" sz="1200" b="1" baseline="-25000" dirty="0">
                <a:solidFill>
                  <a:schemeClr val="tx1"/>
                </a:solidFill>
              </a:rPr>
              <a:t>0</a:t>
            </a:r>
            <a:r>
              <a:rPr lang="en-US" altLang="en-US" sz="1200" dirty="0">
                <a:solidFill>
                  <a:schemeClr val="tx1"/>
                </a:solidFill>
              </a:rPr>
              <a:t>: No monotonic relationship between weather variables and burned area</a:t>
            </a:r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1200" b="1" dirty="0">
                <a:solidFill>
                  <a:schemeClr val="tx1"/>
                </a:solidFill>
              </a:rPr>
              <a:t>H</a:t>
            </a:r>
            <a:r>
              <a:rPr lang="en-US" altLang="en-US" sz="1200" b="1" baseline="-25000" dirty="0">
                <a:solidFill>
                  <a:schemeClr val="tx1"/>
                </a:solidFill>
              </a:rPr>
              <a:t>1</a:t>
            </a:r>
            <a:r>
              <a:rPr lang="en-US" altLang="en-US" sz="1200" dirty="0">
                <a:solidFill>
                  <a:schemeClr val="tx1"/>
                </a:solidFill>
              </a:rPr>
              <a:t>: Significant monotonic relationship exists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endParaRPr lang="en-IN" altLang="en-US" sz="1200" dirty="0"/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 sz="12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8735" y="870019"/>
            <a:ext cx="3819525" cy="2654935"/>
          </a:xfrm>
          <a:prstGeom prst="rect">
            <a:avLst/>
          </a:prstGeom>
        </p:spPr>
      </p:pic>
      <p:sp>
        <p:nvSpPr>
          <p:cNvPr id="6" name="Google Shape;207;p29"/>
          <p:cNvSpPr txBox="1"/>
          <p:nvPr/>
        </p:nvSpPr>
        <p:spPr>
          <a:xfrm>
            <a:off x="129222" y="3798639"/>
            <a:ext cx="8931275" cy="572701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sz="1200" b="1" dirty="0">
                <a:sym typeface="+mn-ea"/>
              </a:rPr>
              <a:t>Co</a:t>
            </a:r>
            <a:r>
              <a:rPr lang="en-IN" altLang="en-US" sz="1200" b="1" dirty="0">
                <a:sym typeface="+mn-ea"/>
              </a:rPr>
              <a:t>n</a:t>
            </a:r>
            <a:r>
              <a:rPr lang="en-US" altLang="en-US" sz="1200" b="1" dirty="0" err="1">
                <a:sym typeface="+mn-ea"/>
              </a:rPr>
              <a:t>clusion</a:t>
            </a:r>
            <a:r>
              <a:rPr lang="en-US" altLang="en-US" sz="1200" dirty="0">
                <a:sym typeface="+mn-ea"/>
              </a:rPr>
              <a:t>: All p-values &gt; 0.05 indicate weak monotonic relationships between individual weather indices and burned area extent when fires occur, suggesting complex</a:t>
            </a:r>
            <a:r>
              <a:rPr lang="en-IN" altLang="en-US" sz="1200" dirty="0">
                <a:sym typeface="+mn-ea"/>
              </a:rPr>
              <a:t> </a:t>
            </a:r>
            <a:r>
              <a:rPr lang="en-US" altLang="en-US" sz="1200" dirty="0">
                <a:sym typeface="+mn-ea"/>
              </a:rPr>
              <a:t>multivariate interactions govern fire severity</a:t>
            </a:r>
            <a:endParaRPr lang="en-US" alt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7"/>
          <p:cNvSpPr txBox="1">
            <a:spLocks noGrp="1"/>
          </p:cNvSpPr>
          <p:nvPr>
            <p:ph type="title"/>
          </p:nvPr>
        </p:nvSpPr>
        <p:spPr>
          <a:xfrm>
            <a:off x="251460" y="195580"/>
            <a:ext cx="868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i="1" dirty="0"/>
              <a:t>Kruskal-Wallis Test</a:t>
            </a:r>
          </a:p>
        </p:txBody>
      </p:sp>
      <p:cxnSp>
        <p:nvCxnSpPr>
          <p:cNvPr id="311" name="Google Shape;311;p37"/>
          <p:cNvCxnSpPr/>
          <p:nvPr/>
        </p:nvCxnSpPr>
        <p:spPr>
          <a:xfrm>
            <a:off x="304800" y="699065"/>
            <a:ext cx="2971165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07;p29"/>
          <p:cNvSpPr txBox="1">
            <a:spLocks noGrp="1"/>
          </p:cNvSpPr>
          <p:nvPr>
            <p:ph type="subTitle" idx="1"/>
          </p:nvPr>
        </p:nvSpPr>
        <p:spPr>
          <a:xfrm>
            <a:off x="107315" y="772159"/>
            <a:ext cx="4619625" cy="399578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1200" b="1" dirty="0">
                <a:solidFill>
                  <a:schemeClr val="tx1"/>
                </a:solidFill>
                <a:sym typeface="+mn-ea"/>
              </a:rPr>
              <a:t>Objective</a:t>
            </a:r>
            <a:r>
              <a:rPr lang="en-US" altLang="en-US" sz="1200" dirty="0">
                <a:solidFill>
                  <a:schemeClr val="tx1"/>
                </a:solidFill>
                <a:sym typeface="+mn-ea"/>
              </a:rPr>
              <a:t>: The Kruskal</a:t>
            </a:r>
            <a:r>
              <a:rPr lang="en-IN" altLang="en-US" sz="1200" dirty="0">
                <a:solidFill>
                  <a:schemeClr val="tx1"/>
                </a:solidFill>
                <a:sym typeface="+mn-ea"/>
              </a:rPr>
              <a:t>-</a:t>
            </a:r>
            <a:r>
              <a:rPr lang="en-US" altLang="en-US" sz="1200" dirty="0">
                <a:solidFill>
                  <a:schemeClr val="tx1"/>
                </a:solidFill>
                <a:sym typeface="+mn-ea"/>
              </a:rPr>
              <a:t>Wallis test is a nonparametric alternative to</a:t>
            </a:r>
            <a:r>
              <a:rPr lang="en-IN" altLang="en-US" sz="1200" dirty="0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en-US" sz="1200" dirty="0">
                <a:solidFill>
                  <a:schemeClr val="tx1"/>
                </a:solidFill>
                <a:sym typeface="+mn-ea"/>
              </a:rPr>
              <a:t>one-way ANOVA. </a:t>
            </a:r>
            <a:r>
              <a:rPr lang="en-IN" altLang="en-US" sz="1200" dirty="0">
                <a:solidFill>
                  <a:schemeClr val="tx1"/>
                </a:solidFill>
                <a:sym typeface="+mn-ea"/>
              </a:rPr>
              <a:t>We want to </a:t>
            </a:r>
            <a:r>
              <a:rPr lang="en-US" altLang="en-US" sz="1200" dirty="0">
                <a:solidFill>
                  <a:schemeClr val="tx1"/>
                </a:solidFill>
                <a:sym typeface="+mn-ea"/>
              </a:rPr>
              <a:t>evaluate whether the median values of a continuous variable differ across</a:t>
            </a:r>
            <a:r>
              <a:rPr lang="en-IN" altLang="en-US" sz="1200" dirty="0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en-US" sz="1200" dirty="0">
                <a:solidFill>
                  <a:schemeClr val="tx1"/>
                </a:solidFill>
                <a:sym typeface="+mn-ea"/>
              </a:rPr>
              <a:t>more than two groups. In this dataset, it tests if the median burned area varies across days</a:t>
            </a:r>
            <a:r>
              <a:rPr lang="en-IN" altLang="en-US" sz="1200" dirty="0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en-US" sz="1200" dirty="0">
                <a:solidFill>
                  <a:schemeClr val="tx1"/>
                </a:solidFill>
                <a:sym typeface="+mn-ea"/>
              </a:rPr>
              <a:t>of the week. A non-significant result means fire severity does not depend on the weekday,</a:t>
            </a:r>
            <a:r>
              <a:rPr lang="en-IN" altLang="en-US" sz="1200" dirty="0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en-US" sz="1200" dirty="0">
                <a:solidFill>
                  <a:schemeClr val="tx1"/>
                </a:solidFill>
                <a:sym typeface="+mn-ea"/>
              </a:rPr>
              <a:t>suggesting that human weekly activity cycles (e.g., workdays vs weekends) do not influence</a:t>
            </a:r>
            <a:r>
              <a:rPr lang="en-IN" altLang="en-US" sz="1200" dirty="0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en-US" sz="1200" dirty="0">
                <a:solidFill>
                  <a:schemeClr val="tx1"/>
                </a:solidFill>
                <a:sym typeface="+mn-ea"/>
              </a:rPr>
              <a:t>burned area extent.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altLang="en-US" sz="1200" dirty="0">
              <a:solidFill>
                <a:schemeClr val="tx1"/>
              </a:solidFill>
              <a:sym typeface="+mn-ea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altLang="en-US" sz="1200" dirty="0">
              <a:solidFill>
                <a:schemeClr val="tx1"/>
              </a:solidFill>
              <a:sym typeface="+mn-ea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altLang="en-US" sz="1200" b="1" dirty="0">
                <a:solidFill>
                  <a:schemeClr val="tx1"/>
                </a:solidFill>
              </a:rPr>
              <a:t>Hypothesis</a:t>
            </a:r>
            <a:r>
              <a:rPr lang="en-IN" altLang="en-US" sz="1200" dirty="0">
                <a:solidFill>
                  <a:schemeClr val="tx1"/>
                </a:solidFill>
              </a:rPr>
              <a:t>:</a:t>
            </a:r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1200" b="1" dirty="0">
                <a:solidFill>
                  <a:schemeClr val="tx1"/>
                </a:solidFill>
              </a:rPr>
              <a:t>H</a:t>
            </a:r>
            <a:r>
              <a:rPr lang="en-US" altLang="en-US" sz="1200" b="1" baseline="-25000" dirty="0">
                <a:solidFill>
                  <a:schemeClr val="tx1"/>
                </a:solidFill>
              </a:rPr>
              <a:t>0</a:t>
            </a:r>
            <a:r>
              <a:rPr lang="en-US" altLang="en-US" sz="1200" dirty="0">
                <a:solidFill>
                  <a:schemeClr val="tx1"/>
                </a:solidFill>
              </a:rPr>
              <a:t>: Median burnt area is equal across all weekdays</a:t>
            </a:r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1200" b="1" dirty="0">
                <a:solidFill>
                  <a:schemeClr val="tx1"/>
                </a:solidFill>
              </a:rPr>
              <a:t>H</a:t>
            </a:r>
            <a:r>
              <a:rPr lang="en-US" altLang="en-US" sz="1200" b="1" baseline="-25000" dirty="0">
                <a:solidFill>
                  <a:schemeClr val="tx1"/>
                </a:solidFill>
              </a:rPr>
              <a:t>1</a:t>
            </a:r>
            <a:r>
              <a:rPr lang="en-US" altLang="en-US" sz="1200" dirty="0">
                <a:solidFill>
                  <a:schemeClr val="tx1"/>
                </a:solidFill>
              </a:rPr>
              <a:t>: At least one weekday has different median burnt area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altLang="en-US" sz="1200" b="1" dirty="0">
              <a:solidFill>
                <a:schemeClr val="tx1"/>
              </a:solidFill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altLang="en-US" sz="1200" b="1" dirty="0">
              <a:solidFill>
                <a:schemeClr val="tx1"/>
              </a:solidFill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1200" b="1" dirty="0">
                <a:solidFill>
                  <a:schemeClr val="tx1"/>
                </a:solidFill>
              </a:rPr>
              <a:t>Conclusion</a:t>
            </a:r>
            <a:r>
              <a:rPr lang="en-US" altLang="en-US" sz="1200" dirty="0">
                <a:solidFill>
                  <a:schemeClr val="tx1"/>
                </a:solidFill>
              </a:rPr>
              <a:t>: No significant difference in median burned area across weekdays (p &gt;</a:t>
            </a:r>
            <a:r>
              <a:rPr lang="en-IN" altLang="en-US" sz="1200" dirty="0">
                <a:solidFill>
                  <a:schemeClr val="tx1"/>
                </a:solidFill>
              </a:rPr>
              <a:t> </a:t>
            </a:r>
            <a:r>
              <a:rPr lang="en-US" altLang="en-US" sz="1200" dirty="0">
                <a:solidFill>
                  <a:schemeClr val="tx1"/>
                </a:solidFill>
              </a:rPr>
              <a:t>0.05), indicating fire severity shows no weekly temporal pattern.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endParaRPr lang="en-US" altLang="en-US" sz="1200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 sz="12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6940" y="1270635"/>
            <a:ext cx="4321175" cy="260159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32" title="medium-shot-firefighter-trying-put-out-wildfire (1).jpg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/>
          <a:srcRect l="16144" r="16137"/>
          <a:stretch>
            <a:fillRect/>
          </a:stretch>
        </p:blipFill>
        <p:spPr>
          <a:xfrm>
            <a:off x="0" y="0"/>
            <a:ext cx="3387725" cy="5143500"/>
          </a:xfrm>
          <a:prstGeom prst="rect">
            <a:avLst/>
          </a:prstGeom>
        </p:spPr>
      </p:pic>
      <p:sp>
        <p:nvSpPr>
          <p:cNvPr id="230" name="Google Shape;230;p32"/>
          <p:cNvSpPr txBox="1">
            <a:spLocks noGrp="1"/>
          </p:cNvSpPr>
          <p:nvPr>
            <p:ph type="title"/>
          </p:nvPr>
        </p:nvSpPr>
        <p:spPr>
          <a:xfrm>
            <a:off x="228600" y="3945225"/>
            <a:ext cx="2841000" cy="98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i="1"/>
              <a:t>Conclusion &amp; Key Findings</a:t>
            </a:r>
          </a:p>
        </p:txBody>
      </p:sp>
      <p:sp>
        <p:nvSpPr>
          <p:cNvPr id="231" name="Google Shape;231;p32"/>
          <p:cNvSpPr txBox="1">
            <a:spLocks noGrp="1"/>
          </p:cNvSpPr>
          <p:nvPr>
            <p:ph type="subTitle" idx="1"/>
          </p:nvPr>
        </p:nvSpPr>
        <p:spPr>
          <a:xfrm>
            <a:off x="3387090" y="92710"/>
            <a:ext cx="5698490" cy="485521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/>
              <a:t>This nonparametric analysis of the Forest Fires dataset reveals critical insights into temporal,</a:t>
            </a:r>
            <a:r>
              <a:rPr lang="en-IN" altLang="en-US"/>
              <a:t> </a:t>
            </a:r>
            <a:r>
              <a:rPr lang="en-US" altLang="en-US"/>
              <a:t>meteorological, and environmental factors influencing forest fire occurrence and severity in</a:t>
            </a:r>
            <a:r>
              <a:rPr lang="en-IN" altLang="en-US"/>
              <a:t> </a:t>
            </a:r>
            <a:r>
              <a:rPr lang="en-US" altLang="en-US"/>
              <a:t>Montesinho Natural Park, Portugal.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altLang="en-US" b="1"/>
              <a:t>S</a:t>
            </a:r>
            <a:r>
              <a:rPr lang="en-US" altLang="en-US" b="1"/>
              <a:t>ystematic temporal</a:t>
            </a:r>
            <a:r>
              <a:rPr lang="en-US" altLang="en-US"/>
              <a:t> patterns</a:t>
            </a:r>
            <a:r>
              <a:rPr lang="en-IN" altLang="en-US"/>
              <a:t> in </a:t>
            </a:r>
            <a:r>
              <a:rPr lang="en-US" altLang="en-US"/>
              <a:t>temperature, RH, wind,</a:t>
            </a:r>
            <a:r>
              <a:rPr lang="en-IN" altLang="en-US"/>
              <a:t> </a:t>
            </a:r>
            <a:r>
              <a:rPr lang="en-US" altLang="en-US"/>
              <a:t>burned area</a:t>
            </a:r>
            <a:r>
              <a:rPr lang="en-IN" altLang="en-US"/>
              <a:t> and </a:t>
            </a:r>
            <a:r>
              <a:rPr lang="en-US" altLang="en-US"/>
              <a:t>rain rather than random fluctuations, enabling predictive fire</a:t>
            </a:r>
            <a:r>
              <a:rPr lang="en-IN" altLang="en-US"/>
              <a:t> </a:t>
            </a:r>
            <a:r>
              <a:rPr lang="en-US" altLang="en-US"/>
              <a:t>risk forecasting.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IN" altLang="en-US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altLang="en-US"/>
              <a:t>S</a:t>
            </a:r>
            <a:r>
              <a:rPr lang="en-US" altLang="en-US"/>
              <a:t>trong </a:t>
            </a:r>
            <a:r>
              <a:rPr lang="en-US" altLang="en-US" b="1"/>
              <a:t>seasonal fire risk patterns</a:t>
            </a:r>
            <a:r>
              <a:rPr lang="en-US" altLang="en-US"/>
              <a:t> driven by summer and early autumn climatic conditions.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IN" altLang="en-US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altLang="en-US"/>
              <a:t>T</a:t>
            </a:r>
            <a:r>
              <a:rPr lang="en-US" altLang="en-US"/>
              <a:t>emperature and fuel moisture as critical fire risk indicators</a:t>
            </a:r>
            <a:r>
              <a:rPr lang="en-IN" altLang="en-US"/>
              <a:t>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/>
              <a:t>September shows higher</a:t>
            </a:r>
            <a:r>
              <a:rPr lang="en-IN" altLang="en-US"/>
              <a:t> </a:t>
            </a:r>
            <a:r>
              <a:rPr lang="en-US" altLang="en-US"/>
              <a:t>DC than August, while August exhibits stronger winds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/>
              <a:t>August shows significantly greater FFMC  and ISI variability than September,</a:t>
            </a:r>
            <a:r>
              <a:rPr lang="en-IN" altLang="en-US"/>
              <a:t> </a:t>
            </a:r>
            <a:r>
              <a:rPr lang="en-US" altLang="en-US"/>
              <a:t>creating unpredictable ignition and erratic fire spread conditions.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/>
              <a:t>Temperature distribution</a:t>
            </a:r>
            <a:r>
              <a:rPr lang="en-IN" altLang="en-US"/>
              <a:t> </a:t>
            </a:r>
            <a:r>
              <a:rPr lang="en-US" altLang="en-US"/>
              <a:t>differs between August and September</a:t>
            </a:r>
            <a:r>
              <a:rPr lang="en-IN" altLang="en-US"/>
              <a:t>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altLang="en-US"/>
              <a:t>F</a:t>
            </a:r>
            <a:r>
              <a:rPr lang="en-US" altLang="en-US"/>
              <a:t>ire severity is</a:t>
            </a:r>
            <a:r>
              <a:rPr lang="en-IN" altLang="en-US"/>
              <a:t> </a:t>
            </a:r>
            <a:r>
              <a:rPr lang="en-US" altLang="en-US"/>
              <a:t>governed by complex multivariate interactions rather than single dominant factors,</a:t>
            </a:r>
            <a:r>
              <a:rPr lang="en-IN" altLang="en-US"/>
              <a:t> </a:t>
            </a:r>
            <a:r>
              <a:rPr lang="en-US" altLang="en-US"/>
              <a:t>requiring integrated predictive models.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IN" altLang="en-US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altLang="en-US"/>
              <a:t>F</a:t>
            </a:r>
            <a:r>
              <a:rPr lang="en-US" altLang="en-US"/>
              <a:t>ire severity shows </a:t>
            </a:r>
            <a:r>
              <a:rPr lang="en-US" altLang="en-US" b="1"/>
              <a:t>no weekly temporal pattern</a:t>
            </a:r>
            <a:r>
              <a:rPr lang="en-US" altLang="en-US"/>
              <a:t> and that</a:t>
            </a:r>
            <a:r>
              <a:rPr lang="en-IN" altLang="en-US"/>
              <a:t> </a:t>
            </a:r>
            <a:r>
              <a:rPr lang="en-US" altLang="en-US"/>
              <a:t>natural meteorological cycles dominate over human activity rhythms.</a:t>
            </a:r>
          </a:p>
        </p:txBody>
      </p:sp>
      <p:cxnSp>
        <p:nvCxnSpPr>
          <p:cNvPr id="235" name="Google Shape;235;p32"/>
          <p:cNvCxnSpPr/>
          <p:nvPr/>
        </p:nvCxnSpPr>
        <p:spPr>
          <a:xfrm>
            <a:off x="304800" y="4914900"/>
            <a:ext cx="2106930" cy="3302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8"/>
          <p:cNvSpPr>
            <a:spLocks noGrp="1"/>
          </p:cNvSpPr>
          <p:nvPr>
            <p:ph type="pic" idx="3"/>
          </p:nvPr>
        </p:nvSpPr>
        <p:spPr>
          <a:xfrm>
            <a:off x="0" y="0"/>
            <a:ext cx="9144000" cy="5143500"/>
          </a:xfrm>
          <a:prstGeom prst="rect">
            <a:avLst/>
          </a:prstGeom>
        </p:spPr>
      </p:sp>
      <p:pic>
        <p:nvPicPr>
          <p:cNvPr id="317" name="Google Shape;317;p38" title="fire-burning-wild-nature.jpg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/>
          <a:srcRect t="6263" b="6263"/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</p:spPr>
      </p:pic>
      <p:sp>
        <p:nvSpPr>
          <p:cNvPr id="12" name="Google Shape;328;p39">
            <a:extLst>
              <a:ext uri="{FF2B5EF4-FFF2-40B4-BE49-F238E27FC236}">
                <a16:creationId xmlns:a16="http://schemas.microsoft.com/office/drawing/2014/main" id="{4A45FFBB-5039-2ABA-22A2-0961D246B2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8600" y="1555750"/>
            <a:ext cx="4481195" cy="203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0" i="1"/>
              <a:t>THANK</a:t>
            </a:r>
            <a:r>
              <a:rPr lang="en-IN" altLang="en-GB" sz="6000" i="1"/>
              <a:t> </a:t>
            </a:r>
            <a:r>
              <a:rPr lang="en-GB" sz="6000" i="1"/>
              <a:t>YOU</a:t>
            </a:r>
          </a:p>
        </p:txBody>
      </p:sp>
      <p:cxnSp>
        <p:nvCxnSpPr>
          <p:cNvPr id="13" name="Google Shape;331;p39">
            <a:extLst>
              <a:ext uri="{FF2B5EF4-FFF2-40B4-BE49-F238E27FC236}">
                <a16:creationId xmlns:a16="http://schemas.microsoft.com/office/drawing/2014/main" id="{37C74396-3126-5D2D-B409-1F80D2FDE132}"/>
              </a:ext>
            </a:extLst>
          </p:cNvPr>
          <p:cNvCxnSpPr/>
          <p:nvPr/>
        </p:nvCxnSpPr>
        <p:spPr>
          <a:xfrm flipV="1">
            <a:off x="304800" y="3579445"/>
            <a:ext cx="4267200" cy="8255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Wildfire Prevention by Slidesgo">
  <a:themeElements>
    <a:clrScheme name="Simple Light">
      <a:dk1>
        <a:srgbClr val="FFFFFF"/>
      </a:dk1>
      <a:lt1>
        <a:srgbClr val="361B16"/>
      </a:lt1>
      <a:dk2>
        <a:srgbClr val="FFFCFC"/>
      </a:dk2>
      <a:lt2>
        <a:srgbClr val="453937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</TotalTime>
  <Words>1779</Words>
  <Application>Microsoft Office PowerPoint</Application>
  <PresentationFormat>On-screen Show (16:9)</PresentationFormat>
  <Paragraphs>198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Arial</vt:lpstr>
      <vt:lpstr>Magneto</vt:lpstr>
      <vt:lpstr>DM Sans</vt:lpstr>
      <vt:lpstr>Cambria Math</vt:lpstr>
      <vt:lpstr>Hind</vt:lpstr>
      <vt:lpstr>Space Grotesk Medium</vt:lpstr>
      <vt:lpstr>Darker Grotesque SemiBold</vt:lpstr>
      <vt:lpstr>Wildfire Prevention by Slidesgo</vt:lpstr>
      <vt:lpstr>Non-parametric Analysis of the Forest Fires Data</vt:lpstr>
      <vt:lpstr>TABLE OF CONTENTS</vt:lpstr>
      <vt:lpstr>Introduction  </vt:lpstr>
      <vt:lpstr>Study Overview and Approach  </vt:lpstr>
      <vt:lpstr>Data Overview &amp; Summary  </vt:lpstr>
      <vt:lpstr>One Sample Non-Parametric Tests</vt:lpstr>
      <vt:lpstr>Runs Test</vt:lpstr>
      <vt:lpstr>Chi-Sq GoF Test</vt:lpstr>
      <vt:lpstr>Kolmogorov-Smirnov Test</vt:lpstr>
      <vt:lpstr>Kolmogorov-Smirnov Test</vt:lpstr>
      <vt:lpstr>Two-Sample Non-Parametric Tests</vt:lpstr>
      <vt:lpstr>Wilcoxon Rank-Sum Test</vt:lpstr>
      <vt:lpstr>Mood’s Test</vt:lpstr>
      <vt:lpstr>Two-Sample KS Test</vt:lpstr>
      <vt:lpstr>Spearman’s Correlation Test</vt:lpstr>
      <vt:lpstr>Kruskal-Wallis Test</vt:lpstr>
      <vt:lpstr>Conclusion &amp; Key Findings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Non-parametric Analysis of the Forest Fires Data</dc:title>
  <dc:creator>Lenovo</dc:creator>
  <cp:lastModifiedBy>Sahil Kumar</cp:lastModifiedBy>
  <cp:revision>4</cp:revision>
  <dcterms:created xsi:type="dcterms:W3CDTF">2025-11-08T00:27:58Z</dcterms:created>
  <dcterms:modified xsi:type="dcterms:W3CDTF">2025-11-08T05:37:21Z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0BC29830FCCA454187BC9C7BC74DBEBF_13</vt:lpwstr>
  </property>
  <property fmtid="{D5CDD505-2E9C-101B-9397-08002B2CF9AE}" pid="3" name="KSOProductBuildVer">
    <vt:lpwstr>1033-12.2.0.23131</vt:lpwstr>
  </property>
</Properties>
</file>